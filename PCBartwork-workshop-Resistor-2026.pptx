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2" r:id="rId1"/>
  </p:sldMasterIdLst>
  <p:notesMasterIdLst>
    <p:notesMasterId r:id="rId51"/>
  </p:notesMasterIdLst>
  <p:handoutMasterIdLst>
    <p:handoutMasterId r:id="rId52"/>
  </p:handoutMasterIdLst>
  <p:sldIdLst>
    <p:sldId id="2697" r:id="rId2"/>
    <p:sldId id="2924" r:id="rId3"/>
    <p:sldId id="2952" r:id="rId4"/>
    <p:sldId id="2953" r:id="rId5"/>
    <p:sldId id="2972" r:id="rId6"/>
    <p:sldId id="2974" r:id="rId7"/>
    <p:sldId id="2973" r:id="rId8"/>
    <p:sldId id="2947" r:id="rId9"/>
    <p:sldId id="2923" r:id="rId10"/>
    <p:sldId id="2925" r:id="rId11"/>
    <p:sldId id="2930" r:id="rId12"/>
    <p:sldId id="2927" r:id="rId13"/>
    <p:sldId id="2926" r:id="rId14"/>
    <p:sldId id="2928" r:id="rId15"/>
    <p:sldId id="2931" r:id="rId16"/>
    <p:sldId id="2932" r:id="rId17"/>
    <p:sldId id="2933" r:id="rId18"/>
    <p:sldId id="2934" r:id="rId19"/>
    <p:sldId id="2939" r:id="rId20"/>
    <p:sldId id="2940" r:id="rId21"/>
    <p:sldId id="2941" r:id="rId22"/>
    <p:sldId id="2935" r:id="rId23"/>
    <p:sldId id="2942" r:id="rId24"/>
    <p:sldId id="2943" r:id="rId25"/>
    <p:sldId id="2945" r:id="rId26"/>
    <p:sldId id="2944" r:id="rId27"/>
    <p:sldId id="2946" r:id="rId28"/>
    <p:sldId id="2950" r:id="rId29"/>
    <p:sldId id="2967" r:id="rId30"/>
    <p:sldId id="2948" r:id="rId31"/>
    <p:sldId id="2949" r:id="rId32"/>
    <p:sldId id="2954" r:id="rId33"/>
    <p:sldId id="2970" r:id="rId34"/>
    <p:sldId id="2971" r:id="rId35"/>
    <p:sldId id="2968" r:id="rId36"/>
    <p:sldId id="2961" r:id="rId37"/>
    <p:sldId id="2965" r:id="rId38"/>
    <p:sldId id="2966" r:id="rId39"/>
    <p:sldId id="2963" r:id="rId40"/>
    <p:sldId id="2962" r:id="rId41"/>
    <p:sldId id="2964" r:id="rId42"/>
    <p:sldId id="2955" r:id="rId43"/>
    <p:sldId id="2956" r:id="rId44"/>
    <p:sldId id="2969" r:id="rId45"/>
    <p:sldId id="2957" r:id="rId46"/>
    <p:sldId id="2958" r:id="rId47"/>
    <p:sldId id="2959" r:id="rId48"/>
    <p:sldId id="2937" r:id="rId49"/>
    <p:sldId id="2938" r:id="rId50"/>
  </p:sldIdLst>
  <p:sldSz cx="9144000" cy="6858000" type="screen4x3"/>
  <p:notesSz cx="6858000" cy="9144000"/>
  <p:kinsoku lang="ja-JP" invalStChars="、。，．・：；？！゛゜ヽヾゝゞ々’”）〕］｝〉》」』】°‰′″℃￠％!%),.:;?]}｡｣､･ﾞﾟ-–" invalEndChars="‘“（〔［｛〈《「『【￥＄$([\{｢￡-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BA9FAE-7ADB-004B-A647-18847794FA4F}">
          <p14:sldIdLst>
            <p14:sldId id="2697"/>
          </p14:sldIdLst>
        </p14:section>
        <p14:section name="Intro" id="{BEDC5B86-C6D3-CB4A-854F-8D333F9617FC}">
          <p14:sldIdLst>
            <p14:sldId id="2924"/>
            <p14:sldId id="2952"/>
            <p14:sldId id="2953"/>
            <p14:sldId id="2972"/>
            <p14:sldId id="2974"/>
            <p14:sldId id="2973"/>
            <p14:sldId id="2947"/>
            <p14:sldId id="2923"/>
            <p14:sldId id="2925"/>
            <p14:sldId id="2930"/>
            <p14:sldId id="2927"/>
            <p14:sldId id="2926"/>
            <p14:sldId id="2928"/>
            <p14:sldId id="2931"/>
            <p14:sldId id="2932"/>
            <p14:sldId id="2933"/>
            <p14:sldId id="2934"/>
            <p14:sldId id="2939"/>
            <p14:sldId id="2940"/>
            <p14:sldId id="2941"/>
            <p14:sldId id="2935"/>
          </p14:sldIdLst>
        </p14:section>
        <p14:section name="Part II" id="{5E0C3E0D-CDD0-9A4C-88FD-04E086F3D776}">
          <p14:sldIdLst>
            <p14:sldId id="2942"/>
            <p14:sldId id="2943"/>
            <p14:sldId id="2945"/>
            <p14:sldId id="2944"/>
            <p14:sldId id="2946"/>
            <p14:sldId id="2950"/>
            <p14:sldId id="2967"/>
            <p14:sldId id="2948"/>
            <p14:sldId id="2949"/>
          </p14:sldIdLst>
        </p14:section>
        <p14:section name="Part III" id="{3C1636EB-5AA9-6C42-9F20-A8EC1AC26930}">
          <p14:sldIdLst>
            <p14:sldId id="2954"/>
            <p14:sldId id="2970"/>
            <p14:sldId id="2971"/>
          </p14:sldIdLst>
        </p14:section>
        <p14:section name="Reference" id="{4D527179-88C7-6F4C-AE00-C8F6E3EA3956}">
          <p14:sldIdLst>
            <p14:sldId id="2968"/>
            <p14:sldId id="2961"/>
            <p14:sldId id="2965"/>
            <p14:sldId id="2966"/>
            <p14:sldId id="2963"/>
            <p14:sldId id="2962"/>
            <p14:sldId id="2964"/>
            <p14:sldId id="2955"/>
            <p14:sldId id="2956"/>
            <p14:sldId id="2969"/>
            <p14:sldId id="2957"/>
            <p14:sldId id="2958"/>
            <p14:sldId id="2959"/>
            <p14:sldId id="2937"/>
            <p14:sldId id="2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A2A90"/>
    <a:srgbClr val="053DF5"/>
    <a:srgbClr val="EAE8E9"/>
    <a:srgbClr val="A90325"/>
    <a:srgbClr val="F36B41"/>
    <a:srgbClr val="E3F499"/>
    <a:srgbClr val="007F24"/>
    <a:srgbClr val="FF1F19"/>
    <a:srgbClr val="FFA337"/>
    <a:srgbClr val="FFCF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 autoAdjust="0"/>
    <p:restoredTop sz="91973" autoAdjust="0"/>
  </p:normalViewPr>
  <p:slideViewPr>
    <p:cSldViewPr snapToGrid="0" snapToObjects="1">
      <p:cViewPr varScale="1">
        <p:scale>
          <a:sx n="117" d="100"/>
          <a:sy n="117" d="100"/>
        </p:scale>
        <p:origin x="173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16"/>
    </p:cViewPr>
  </p:sorterViewPr>
  <p:notesViewPr>
    <p:cSldViewPr snapToGrid="0" snapToObjects="1">
      <p:cViewPr varScale="1">
        <p:scale>
          <a:sx n="77" d="100"/>
          <a:sy n="77" d="100"/>
        </p:scale>
        <p:origin x="12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0CCBF-918B-D04F-AE8D-F1EC3B14308D}" type="datetimeFigureOut"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326DE-5435-DF4D-BE80-5F98BB6C0F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422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2A21D-612B-AC49-8ABB-0644096748EC}" type="datetimeFigureOut">
              <a:rPr lang="en-US" smtClean="0"/>
              <a:pPr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E58BE-F48E-9248-A79F-38A5AEAA52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787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E58BE-F48E-9248-A79F-38A5AEAA52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68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E58BE-F48E-9248-A79F-38A5AEAA52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18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84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FD56D8-DBB7-5A15-5F41-3E9D1862BF67}"/>
              </a:ext>
            </a:extLst>
          </p:cNvPr>
          <p:cNvCxnSpPr>
            <a:cxnSpLocks/>
          </p:cNvCxnSpPr>
          <p:nvPr userDrawn="1"/>
        </p:nvCxnSpPr>
        <p:spPr>
          <a:xfrm>
            <a:off x="0" y="1371600"/>
            <a:ext cx="4572000" cy="0"/>
          </a:xfrm>
          <a:prstGeom prst="line">
            <a:avLst/>
          </a:prstGeom>
          <a:ln w="63500" cmpd="thickThin"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A9E3F46-D1D7-3D86-75B0-76E49685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D12F1D-2860-106F-04DC-C910101794F9}"/>
              </a:ext>
            </a:extLst>
          </p:cNvPr>
          <p:cNvCxnSpPr>
            <a:cxnSpLocks/>
          </p:cNvCxnSpPr>
          <p:nvPr userDrawn="1"/>
        </p:nvCxnSpPr>
        <p:spPr>
          <a:xfrm flipH="1">
            <a:off x="4572000" y="5486400"/>
            <a:ext cx="4572000" cy="0"/>
          </a:xfrm>
          <a:prstGeom prst="line">
            <a:avLst/>
          </a:prstGeom>
          <a:ln w="63500" cmpd="thinThick">
            <a:solidFill>
              <a:schemeClr val="tx1">
                <a:lumMod val="50000"/>
                <a:lumOff val="50000"/>
              </a:schemeClr>
            </a:solidFill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32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B585B-43A1-34D1-1ED8-0DB089C898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5765782"/>
          </a:xfrm>
          <a:prstGeom prst="rect">
            <a:avLst/>
          </a:prstGeom>
        </p:spPr>
        <p:txBody>
          <a:bodyPr lIns="457200" anchor="ctr">
            <a:normAutofit/>
          </a:bodyPr>
          <a:lstStyle>
            <a:lvl1pPr marL="301752" indent="-228600" hangingPunct="0">
              <a:spcBef>
                <a:spcPts val="1200"/>
              </a:spcBef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94360" indent="-228600" hangingPunct="0">
              <a:defRPr sz="2000">
                <a:latin typeface="Proxima Nova" panose="02000506030000020004" pitchFamily="2" charset="0"/>
                <a:cs typeface="Proxima Nova" panose="02000506030000020004" pitchFamily="2" charset="0"/>
              </a:defRPr>
            </a:lvl2pPr>
            <a:lvl3pPr marL="914400" indent="-228600" hangingPunct="0">
              <a:defRPr sz="1600">
                <a:latin typeface="Proxima Nova" panose="02000506030000020004" pitchFamily="2" charset="0"/>
                <a:cs typeface="Proxima Nova" panose="02000506030000020004" pitchFamily="2" charset="0"/>
              </a:defRPr>
            </a:lvl3pPr>
            <a:lvl4pPr marL="1216152" hangingPunct="0">
              <a:defRPr sz="1600">
                <a:latin typeface="Proxima Nova" panose="02000506030000020004" pitchFamily="2" charset="0"/>
                <a:cs typeface="Proxima Nova" panose="02000506030000020004" pitchFamily="2" charset="0"/>
              </a:defRPr>
            </a:lvl4pPr>
            <a:lvl5pPr marL="1828800" indent="0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0A1B8F1D-52E2-87F3-FA4B-E867C8E9A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70502"/>
            <a:ext cx="7630689" cy="482858"/>
          </a:xfrm>
        </p:spPr>
        <p:txBody>
          <a:bodyPr rIns="137160">
            <a:noAutofit/>
          </a:bodyPr>
          <a:lstStyle>
            <a:lvl1pPr marL="182880" algn="l">
              <a:defRPr sz="3200" b="0" i="0" cap="none" baseline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D24D71C-B8B3-FA81-5486-9286BEFB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3896" y="6404420"/>
            <a:ext cx="725557" cy="365125"/>
          </a:xfrm>
        </p:spPr>
        <p:txBody>
          <a:bodyPr/>
          <a:lstStyle/>
          <a:p>
            <a:fld id="{A1CE482F-FCB4-614E-8004-33C88C9952E0}" type="slidenum"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DE5D5E-B993-077A-BF49-D1411130921D}"/>
              </a:ext>
            </a:extLst>
          </p:cNvPr>
          <p:cNvSpPr txBox="1"/>
          <p:nvPr userDrawn="1"/>
        </p:nvSpPr>
        <p:spPr>
          <a:xfrm>
            <a:off x="7630689" y="62780"/>
            <a:ext cx="142859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taitphotonlab.com</a:t>
            </a:r>
            <a:endParaRPr lang="en-US" sz="14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19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F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6296295" y="418011"/>
            <a:ext cx="2812869" cy="418910"/>
          </a:xfrm>
          <a:prstGeom prst="rect">
            <a:avLst/>
          </a:prstGeom>
          <a:ln w="1270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Helvetica"/>
              <a:cs typeface="Helvetica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979DB9D-D1E4-F645-9327-D33288D1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9660" y="6404420"/>
            <a:ext cx="725557" cy="365125"/>
          </a:xfrm>
        </p:spPr>
        <p:txBody>
          <a:bodyPr/>
          <a:lstStyle/>
          <a:p>
            <a:fld id="{A1CE482F-FCB4-614E-8004-33C88C9952E0}" type="slidenum">
              <a:t>‹#›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89C85A-3BF3-0CCA-BD25-805248A52E40}"/>
              </a:ext>
            </a:extLst>
          </p:cNvPr>
          <p:cNvSpPr txBox="1"/>
          <p:nvPr userDrawn="1"/>
        </p:nvSpPr>
        <p:spPr>
          <a:xfrm>
            <a:off x="7630689" y="62780"/>
            <a:ext cx="1428596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taitphotonlab.com</a:t>
            </a:r>
            <a:endParaRPr lang="en-US" sz="14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09CD4A73-3503-0BDF-C8F9-8BE21EF5A4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70502"/>
            <a:ext cx="7630689" cy="482858"/>
          </a:xfrm>
        </p:spPr>
        <p:txBody>
          <a:bodyPr rIns="137160">
            <a:noAutofit/>
          </a:bodyPr>
          <a:lstStyle>
            <a:lvl1pPr marL="182880" algn="l">
              <a:defRPr sz="3200" b="0" i="0" cap="none" baseline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504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3569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E653-5C63-8B44-9C7A-408063D6A5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76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706" r:id="rId2"/>
    <p:sldLayoutId id="2147483688" r:id="rId3"/>
    <p:sldLayoutId id="2147483712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A003D5-5F6C-A02B-6C34-3E1521C4B7C1}"/>
              </a:ext>
            </a:extLst>
          </p:cNvPr>
          <p:cNvSpPr/>
          <p:nvPr/>
        </p:nvSpPr>
        <p:spPr>
          <a:xfrm>
            <a:off x="389744" y="5782591"/>
            <a:ext cx="8435954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endParaRPr lang="en-US" sz="200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  <a:p>
            <a:pPr lvl="0">
              <a:spcBef>
                <a:spcPct val="20000"/>
              </a:spcBef>
            </a:pPr>
            <a:endParaRPr lang="en-US" sz="200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8979C7-2A22-EE71-1F0D-CAA4660BBA9C}"/>
              </a:ext>
            </a:extLst>
          </p:cNvPr>
          <p:cNvSpPr/>
          <p:nvPr/>
        </p:nvSpPr>
        <p:spPr>
          <a:xfrm>
            <a:off x="389744" y="342901"/>
            <a:ext cx="8435954" cy="14465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4000" dirty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PCB artwork: </a:t>
            </a:r>
          </a:p>
          <a:p>
            <a:pPr lvl="0">
              <a:spcBef>
                <a:spcPct val="20000"/>
              </a:spcBef>
            </a:pPr>
            <a:r>
              <a:rPr lang="en-US" sz="4000" dirty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Make a business card</a:t>
            </a:r>
            <a:endParaRPr lang="en-US" sz="280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018C5-7FF7-BE87-97F4-BAA5D45A987E}"/>
              </a:ext>
            </a:extLst>
          </p:cNvPr>
          <p:cNvSpPr/>
          <p:nvPr/>
        </p:nvSpPr>
        <p:spPr>
          <a:xfrm>
            <a:off x="389744" y="2038294"/>
            <a:ext cx="8435954" cy="9664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sz="2800" dirty="0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Alex Tait</a:t>
            </a:r>
          </a:p>
          <a:p>
            <a:pPr lvl="0">
              <a:spcBef>
                <a:spcPct val="20000"/>
              </a:spcBef>
            </a:pPr>
            <a:r>
              <a:rPr lang="en-US" sz="2400" dirty="0" err="1">
                <a:solidFill>
                  <a:schemeClr val="bg1"/>
                </a:solidFill>
                <a:latin typeface="Helvetica Light" charset="0"/>
                <a:ea typeface="Helvetica Light" charset="0"/>
                <a:cs typeface="Helvetica Light" charset="0"/>
              </a:rPr>
              <a:t>atait@ieee.org</a:t>
            </a:r>
            <a:endParaRPr lang="en-US" sz="240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0385903-4E5B-F25C-E208-756054B168AA}"/>
              </a:ext>
            </a:extLst>
          </p:cNvPr>
          <p:cNvSpPr/>
          <p:nvPr/>
        </p:nvSpPr>
        <p:spPr>
          <a:xfrm flipH="1" flipV="1">
            <a:off x="6961909" y="-4"/>
            <a:ext cx="2182090" cy="6857999"/>
          </a:xfrm>
          <a:prstGeom prst="rtTriangl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34B7814A-D971-C063-1966-B68248CFDB84}"/>
              </a:ext>
            </a:extLst>
          </p:cNvPr>
          <p:cNvSpPr/>
          <p:nvPr/>
        </p:nvSpPr>
        <p:spPr>
          <a:xfrm flipH="1">
            <a:off x="6645227" y="0"/>
            <a:ext cx="2498771" cy="6857998"/>
          </a:xfrm>
          <a:prstGeom prst="rtTriangl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FFC853-1B94-7516-4BCC-D0D60B2EA7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73" t="21818" r="7759" b="10790"/>
          <a:stretch/>
        </p:blipFill>
        <p:spPr>
          <a:xfrm>
            <a:off x="389743" y="3196223"/>
            <a:ext cx="4452258" cy="239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74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47C2A-057E-D60B-877A-FDEECC835D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Download </a:t>
            </a:r>
            <a:r>
              <a:rPr lang="en-US" dirty="0" err="1"/>
              <a:t>KiCAD</a:t>
            </a:r>
            <a:r>
              <a:rPr lang="en-US" dirty="0"/>
              <a:t> and Inkscape</a:t>
            </a:r>
          </a:p>
          <a:p>
            <a:r>
              <a:rPr lang="en-US" dirty="0"/>
              <a:t>Find/create/remix some vector artwork</a:t>
            </a:r>
          </a:p>
          <a:p>
            <a:r>
              <a:rPr lang="en-US" dirty="0"/>
              <a:t>Single layer import (</a:t>
            </a:r>
            <a:r>
              <a:rPr lang="en-US" dirty="0" err="1"/>
              <a:t>KiCAD</a:t>
            </a:r>
            <a:r>
              <a:rPr lang="en-US" dirty="0"/>
              <a:t>)</a:t>
            </a:r>
          </a:p>
          <a:p>
            <a:r>
              <a:rPr lang="en-US" dirty="0"/>
              <a:t>Multi-layer designs (</a:t>
            </a:r>
            <a:r>
              <a:rPr lang="en-US" dirty="0" err="1"/>
              <a:t>inkscape</a:t>
            </a:r>
            <a:r>
              <a:rPr lang="en-US" dirty="0"/>
              <a:t>)</a:t>
            </a:r>
          </a:p>
          <a:p>
            <a:r>
              <a:rPr lang="en-US" dirty="0"/>
              <a:t>Convert to footprints (svg2mod)</a:t>
            </a:r>
          </a:p>
          <a:p>
            <a:r>
              <a:rPr lang="en-US" dirty="0"/>
              <a:t>Insert a footprint into a </a:t>
            </a:r>
            <a:r>
              <a:rPr lang="en-US" dirty="0" err="1"/>
              <a:t>pcbnew</a:t>
            </a:r>
            <a:r>
              <a:rPr lang="en-US" dirty="0"/>
              <a:t> file</a:t>
            </a:r>
          </a:p>
          <a:p>
            <a:r>
              <a:rPr lang="en-US" dirty="0"/>
              <a:t>Submit PCB designs to fabrication house</a:t>
            </a:r>
          </a:p>
          <a:p>
            <a:r>
              <a:rPr lang="en-US" dirty="0"/>
              <a:t>Fabricate PCBs</a:t>
            </a:r>
          </a:p>
          <a:p>
            <a:r>
              <a:rPr lang="en-US" dirty="0"/>
              <a:t>Pick up from Resistor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1A1978-8833-DB01-44FB-8A372601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63A49-93DF-62DA-695C-A0D5BC9C2605}"/>
              </a:ext>
            </a:extLst>
          </p:cNvPr>
          <p:cNvSpPr txBox="1"/>
          <p:nvPr/>
        </p:nvSpPr>
        <p:spPr>
          <a:xfrm>
            <a:off x="4374339" y="4169229"/>
            <a:ext cx="313964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Skip over 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kicad_pro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and 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eeschema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47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8ADC48-1C28-20F6-8D9A-7ADC0DCEB9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981074" cy="576578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Hour 1: Importing graphics</a:t>
            </a:r>
          </a:p>
          <a:p>
            <a:pPr lvl="1"/>
            <a:r>
              <a:rPr lang="en-US" dirty="0"/>
              <a:t>20 min talking</a:t>
            </a:r>
          </a:p>
          <a:p>
            <a:pPr lvl="2"/>
            <a:r>
              <a:rPr lang="en-US" dirty="0"/>
              <a:t>Printed circuit boards</a:t>
            </a:r>
          </a:p>
          <a:p>
            <a:pPr lvl="2"/>
            <a:r>
              <a:rPr lang="en-US" dirty="0"/>
              <a:t>Computer aided design (CAD)</a:t>
            </a:r>
          </a:p>
          <a:p>
            <a:pPr lvl="2"/>
            <a:r>
              <a:rPr lang="en-US" dirty="0"/>
              <a:t>Layout primitives (lines, curves)</a:t>
            </a:r>
          </a:p>
          <a:p>
            <a:pPr lvl="1"/>
            <a:r>
              <a:rPr lang="en-US" dirty="0"/>
              <a:t>30 min asynchronous</a:t>
            </a:r>
          </a:p>
          <a:p>
            <a:pPr lvl="2"/>
            <a:r>
              <a:rPr lang="en-US" dirty="0"/>
              <a:t>Download </a:t>
            </a:r>
            <a:r>
              <a:rPr lang="en-US" dirty="0" err="1"/>
              <a:t>KiCAD</a:t>
            </a:r>
            <a:endParaRPr lang="en-US" dirty="0"/>
          </a:p>
          <a:p>
            <a:pPr lvl="2"/>
            <a:r>
              <a:rPr lang="en-US" dirty="0"/>
              <a:t>Obtain template files</a:t>
            </a:r>
          </a:p>
          <a:p>
            <a:pPr lvl="2"/>
            <a:r>
              <a:rPr lang="en-US" dirty="0"/>
              <a:t>Edit text</a:t>
            </a:r>
          </a:p>
          <a:p>
            <a:pPr lvl="2"/>
            <a:r>
              <a:rPr lang="en-US" dirty="0"/>
              <a:t>Import basic </a:t>
            </a:r>
            <a:r>
              <a:rPr lang="en-US" i="1" dirty="0"/>
              <a:t>Resistor</a:t>
            </a:r>
            <a:r>
              <a:rPr lang="en-US" dirty="0"/>
              <a:t> logo (from SVG file)</a:t>
            </a:r>
          </a:p>
          <a:p>
            <a:pPr lvl="2"/>
            <a:r>
              <a:rPr lang="en-US" dirty="0"/>
              <a:t>Notice the primitive shapes</a:t>
            </a:r>
          </a:p>
          <a:p>
            <a:pPr lvl="1"/>
            <a:r>
              <a:rPr lang="en-US" dirty="0"/>
              <a:t>10 min break</a:t>
            </a:r>
          </a:p>
          <a:p>
            <a:r>
              <a:rPr lang="en-US" dirty="0"/>
              <a:t>Hour 2: Editing graphics</a:t>
            </a:r>
          </a:p>
          <a:p>
            <a:pPr lvl="1"/>
            <a:r>
              <a:rPr lang="en-US" dirty="0"/>
              <a:t>30 min talking</a:t>
            </a:r>
          </a:p>
          <a:p>
            <a:pPr lvl="2"/>
            <a:r>
              <a:rPr lang="en-US" dirty="0"/>
              <a:t>Computer graphics</a:t>
            </a:r>
          </a:p>
          <a:p>
            <a:pPr lvl="2"/>
            <a:r>
              <a:rPr lang="en-US" dirty="0"/>
              <a:t>SVG/PCB Layers</a:t>
            </a:r>
          </a:p>
          <a:p>
            <a:pPr lvl="2"/>
            <a:r>
              <a:rPr lang="en-US" dirty="0"/>
              <a:t>Path operations</a:t>
            </a:r>
          </a:p>
          <a:p>
            <a:pPr lvl="1"/>
            <a:r>
              <a:rPr lang="en-US" dirty="0"/>
              <a:t>20 min asynchronous</a:t>
            </a:r>
          </a:p>
          <a:p>
            <a:pPr lvl="2"/>
            <a:r>
              <a:rPr lang="en-US" dirty="0"/>
              <a:t>Download Inkscape</a:t>
            </a:r>
          </a:p>
          <a:p>
            <a:pPr lvl="2"/>
            <a:r>
              <a:rPr lang="en-US" dirty="0"/>
              <a:t>Find and download a vector image</a:t>
            </a:r>
          </a:p>
          <a:p>
            <a:pPr lvl="2"/>
            <a:r>
              <a:rPr lang="en-US" dirty="0"/>
              <a:t>Import, version, and begin editing</a:t>
            </a:r>
          </a:p>
          <a:p>
            <a:pPr lvl="2"/>
            <a:r>
              <a:rPr lang="en-US" dirty="0"/>
              <a:t>Notice colors and layers</a:t>
            </a:r>
          </a:p>
          <a:p>
            <a:pPr lvl="1"/>
            <a:r>
              <a:rPr lang="en-US" dirty="0"/>
              <a:t>10 min break</a:t>
            </a:r>
          </a:p>
          <a:p>
            <a:r>
              <a:rPr lang="en-US" dirty="0"/>
              <a:t>Hour 3: Custom footprints</a:t>
            </a:r>
          </a:p>
          <a:p>
            <a:pPr lvl="1"/>
            <a:r>
              <a:rPr lang="en-US" dirty="0"/>
              <a:t>10 min talking</a:t>
            </a:r>
          </a:p>
          <a:p>
            <a:pPr lvl="2"/>
            <a:r>
              <a:rPr lang="en-US" dirty="0" err="1"/>
              <a:t>KiCAD</a:t>
            </a:r>
            <a:r>
              <a:rPr lang="en-US" dirty="0"/>
              <a:t> footprints</a:t>
            </a:r>
          </a:p>
          <a:p>
            <a:pPr lvl="2"/>
            <a:r>
              <a:rPr lang="en-US" dirty="0" err="1"/>
              <a:t>KiCAD</a:t>
            </a:r>
            <a:r>
              <a:rPr lang="en-US" dirty="0"/>
              <a:t> local libraries</a:t>
            </a:r>
          </a:p>
          <a:p>
            <a:pPr lvl="2"/>
            <a:r>
              <a:rPr lang="en-US" dirty="0"/>
              <a:t>PCB fabrication + economics</a:t>
            </a:r>
          </a:p>
          <a:p>
            <a:pPr lvl="1"/>
            <a:r>
              <a:rPr lang="en-US" dirty="0"/>
              <a:t>50 min asynchronous</a:t>
            </a:r>
          </a:p>
          <a:p>
            <a:pPr lvl="2"/>
            <a:r>
              <a:rPr lang="en-US" dirty="0"/>
              <a:t>Place fancy </a:t>
            </a:r>
            <a:r>
              <a:rPr lang="en-US" i="1" dirty="0"/>
              <a:t>Resistor</a:t>
            </a:r>
            <a:r>
              <a:rPr lang="en-US" dirty="0"/>
              <a:t> logo (from footprint Library)</a:t>
            </a:r>
          </a:p>
          <a:p>
            <a:pPr lvl="2"/>
            <a:r>
              <a:rPr lang="en-US" dirty="0"/>
              <a:t>Use </a:t>
            </a:r>
            <a:r>
              <a:rPr lang="en-US" i="1" dirty="0"/>
              <a:t>svg2mod</a:t>
            </a:r>
            <a:r>
              <a:rPr lang="en-US" dirty="0"/>
              <a:t> to generate your own footprint</a:t>
            </a:r>
          </a:p>
          <a:p>
            <a:pPr lvl="2"/>
            <a:r>
              <a:rPr lang="en-US" dirty="0"/>
              <a:t>Upload to </a:t>
            </a:r>
            <a:r>
              <a:rPr lang="en-US" dirty="0" err="1"/>
              <a:t>JLCPCB</a:t>
            </a:r>
            <a:r>
              <a:rPr lang="en-US" dirty="0"/>
              <a:t> and play with pricing options</a:t>
            </a:r>
          </a:p>
          <a:p>
            <a:pPr lvl="2"/>
            <a:r>
              <a:rPr lang="en-US" dirty="0"/>
              <a:t>Continue editing your footprint until finished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F18AAE-8029-86E1-7BFC-DED969D2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250D4-EA4B-BADC-722C-975F2715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B27B7-BE15-BB34-A8CA-E0756B69FED7}"/>
              </a:ext>
            </a:extLst>
          </p:cNvPr>
          <p:cNvSpPr txBox="1"/>
          <p:nvPr/>
        </p:nvSpPr>
        <p:spPr>
          <a:xfrm>
            <a:off x="5366657" y="2013857"/>
            <a:ext cx="2908104" cy="80021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Afterwards</a:t>
            </a:r>
          </a:p>
          <a:p>
            <a:pPr algn="l"/>
            <a:r>
              <a:rPr lang="en-US" sz="12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- continue working at your own pace</a:t>
            </a:r>
          </a:p>
          <a:p>
            <a:r>
              <a:rPr lang="en-US" sz="12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- follow instructions to upload to </a:t>
            </a:r>
            <a:r>
              <a:rPr lang="en-US" sz="12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OSHPARK</a:t>
            </a:r>
            <a:endParaRPr lang="en-US" sz="12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- email/discord for tech support</a:t>
            </a:r>
          </a:p>
        </p:txBody>
      </p:sp>
    </p:spTree>
    <p:extLst>
      <p:ext uri="{BB962C8B-B14F-4D97-AF65-F5344CB8AC3E}">
        <p14:creationId xmlns:p14="http://schemas.microsoft.com/office/powerpoint/2010/main" val="163179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590D65-DB0A-8AD1-BA01-3065B9C7E5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7413171" cy="5765782"/>
          </a:xfrm>
        </p:spPr>
        <p:txBody>
          <a:bodyPr/>
          <a:lstStyle/>
          <a:p>
            <a:r>
              <a:rPr lang="en-US" dirty="0"/>
              <a:t>Business card template (</a:t>
            </a:r>
            <a:r>
              <a:rPr lang="en-US" dirty="0" err="1"/>
              <a:t>bcard_template.pcbnew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With </a:t>
            </a:r>
            <a:r>
              <a:rPr lang="en-US" dirty="0" err="1"/>
              <a:t>LocalLib</a:t>
            </a:r>
            <a:r>
              <a:rPr lang="en-US" dirty="0"/>
              <a:t> on the paths</a:t>
            </a:r>
          </a:p>
          <a:p>
            <a:r>
              <a:rPr lang="en-US" dirty="0"/>
              <a:t>Resistor logo (</a:t>
            </a:r>
            <a:r>
              <a:rPr lang="en-US" dirty="0" err="1"/>
              <a:t>resistor_logo.svg</a:t>
            </a:r>
            <a:r>
              <a:rPr lang="en-US" dirty="0"/>
              <a:t>)</a:t>
            </a:r>
          </a:p>
          <a:p>
            <a:r>
              <a:rPr lang="en-US" dirty="0"/>
              <a:t>Resistor logo footprint (resistor_logo2.kicad_mod)</a:t>
            </a:r>
          </a:p>
          <a:p>
            <a:pPr lvl="1"/>
            <a:r>
              <a:rPr lang="en-US" dirty="0"/>
              <a:t>Inside </a:t>
            </a:r>
            <a:r>
              <a:rPr lang="en-US" dirty="0" err="1"/>
              <a:t>LocalLib</a:t>
            </a:r>
            <a:r>
              <a:rPr lang="en-US" dirty="0"/>
              <a:t>/modules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C0F052-448B-B583-55A7-7BCE2E48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Provided assets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A4582-BDE1-3C48-459F-A46175F3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8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114824-964B-4ABB-B3B4-9057B75139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Git clone...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47138-766E-43CF-DDF5-BF443577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Obtaining the repo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11B8E-2A9A-2A61-24BA-EC19B14A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88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F84292-52AC-AD3F-9A59-234A5AB8B1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5747657" cy="5765782"/>
          </a:xfrm>
        </p:spPr>
        <p:txBody>
          <a:bodyPr>
            <a:normAutofit/>
          </a:bodyPr>
          <a:lstStyle/>
          <a:p>
            <a:r>
              <a:rPr lang="en-US" sz="2000" dirty="0"/>
              <a:t>Learn the procedure by reproducing the </a:t>
            </a:r>
            <a:r>
              <a:rPr lang="en-US" sz="2000" dirty="0" err="1"/>
              <a:t>NYCRESISTOR</a:t>
            </a:r>
            <a:r>
              <a:rPr lang="en-US" sz="2000" dirty="0"/>
              <a:t> example design</a:t>
            </a:r>
          </a:p>
          <a:p>
            <a:r>
              <a:rPr lang="en-US" sz="2000" dirty="0"/>
              <a:t>Then repeat the procedure on your own design</a:t>
            </a:r>
          </a:p>
          <a:p>
            <a:endParaRPr lang="en-US" sz="2000" dirty="0"/>
          </a:p>
          <a:p>
            <a:r>
              <a:rPr lang="en-US" sz="2000" dirty="0"/>
              <a:t>Each session, we start from checkpoint X, try to get to checkpoint X+1</a:t>
            </a:r>
          </a:p>
          <a:p>
            <a:r>
              <a:rPr lang="en-US" sz="2000" dirty="0"/>
              <a:t>All the example checkpoint files are in the repo</a:t>
            </a:r>
          </a:p>
          <a:p>
            <a:endParaRPr lang="en-US" sz="2000" dirty="0"/>
          </a:p>
          <a:p>
            <a:r>
              <a:rPr lang="en-US" sz="2000" dirty="0"/>
              <a:t>If you reproduce the example early, move to your own design or help others</a:t>
            </a:r>
          </a:p>
          <a:p>
            <a:r>
              <a:rPr lang="en-US" sz="2000" dirty="0"/>
              <a:t>If not, no problem, you’ll be able to catch up at the next checkpoint</a:t>
            </a:r>
          </a:p>
          <a:p>
            <a:endParaRPr lang="en-US" sz="2000" dirty="0"/>
          </a:p>
          <a:p>
            <a:r>
              <a:rPr lang="en-US" sz="2000" dirty="0"/>
              <a:t>The last hour is all asynchronous work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46C6B6-8B39-4EF6-0136-2FF35A26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asynchronous sessions will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A2414-EF21-AE85-17A3-D282F22C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2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074378-1807-DD85-54A6-717708D021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800600" cy="5765782"/>
          </a:xfrm>
        </p:spPr>
        <p:txBody>
          <a:bodyPr/>
          <a:lstStyle/>
          <a:p>
            <a:r>
              <a:rPr lang="en-US" dirty="0"/>
              <a:t>Clone the repo</a:t>
            </a:r>
          </a:p>
          <a:p>
            <a:r>
              <a:rPr lang="en-US" dirty="0"/>
              <a:t>Download Inkscape</a:t>
            </a:r>
          </a:p>
          <a:p>
            <a:r>
              <a:rPr lang="en-US" dirty="0"/>
              <a:t>Download </a:t>
            </a:r>
            <a:r>
              <a:rPr lang="en-US" dirty="0" err="1"/>
              <a:t>KiCAD</a:t>
            </a:r>
            <a:endParaRPr lang="en-US" dirty="0"/>
          </a:p>
          <a:p>
            <a:endParaRPr lang="en-US" dirty="0"/>
          </a:p>
          <a:p>
            <a:r>
              <a:rPr lang="en-US" dirty="0"/>
              <a:t>Meet your neighbors. You will be helping each other later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Pronouns</a:t>
            </a:r>
          </a:p>
          <a:p>
            <a:pPr lvl="1"/>
            <a:r>
              <a:rPr lang="en-US" dirty="0"/>
              <a:t>Relationship to NYC Resistor</a:t>
            </a:r>
          </a:p>
          <a:p>
            <a:pPr lvl="1"/>
            <a:r>
              <a:rPr lang="en-US" dirty="0"/>
              <a:t>Something you are working on or want to work 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41CD5A-EC08-659D-9358-EE2108EE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3094F-DEAC-3A5C-EDC7-83C89878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19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680A85-C4B8-B187-0D65-0854E1AEE7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556F2B-56D3-D610-2BF3-158E9C340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D264B-5BF5-AAE2-9369-B1F50140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A round object with a dragon and panther on it&#10;&#10;Description automatically generated">
            <a:extLst>
              <a:ext uri="{FF2B5EF4-FFF2-40B4-BE49-F238E27FC236}">
                <a16:creationId xmlns:a16="http://schemas.microsoft.com/office/drawing/2014/main" id="{8124AEC0-1731-F348-E52F-C1DFE8DA7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116" y="595116"/>
            <a:ext cx="5667768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36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D8F29-ECEA-FA01-4EEA-0B9DAE0A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</a:t>
            </a:r>
          </a:p>
        </p:txBody>
      </p:sp>
    </p:spTree>
    <p:extLst>
      <p:ext uri="{BB962C8B-B14F-4D97-AF65-F5344CB8AC3E}">
        <p14:creationId xmlns:p14="http://schemas.microsoft.com/office/powerpoint/2010/main" val="606346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11C40-B7EE-3648-A66B-A24750F798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C7C534-ADD0-51F5-AAD4-525F39E1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Graphics: Vector vs. Raster</a:t>
            </a:r>
          </a:p>
        </p:txBody>
      </p:sp>
      <p:pic>
        <p:nvPicPr>
          <p:cNvPr id="7" name="Picture 6" descr="A black and orange letters&#10;&#10;Description automatically generated">
            <a:extLst>
              <a:ext uri="{FF2B5EF4-FFF2-40B4-BE49-F238E27FC236}">
                <a16:creationId xmlns:a16="http://schemas.microsoft.com/office/drawing/2014/main" id="{957817E7-BD35-4CAA-CF3E-C57019686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511300"/>
            <a:ext cx="5334000" cy="3835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C5D649-B675-681C-2CA3-878F2D79C1B7}"/>
              </a:ext>
            </a:extLst>
          </p:cNvPr>
          <p:cNvSpPr txBox="1"/>
          <p:nvPr/>
        </p:nvSpPr>
        <p:spPr>
          <a:xfrm>
            <a:off x="2163556" y="5346700"/>
            <a:ext cx="205184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And anchor points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56969-DB8E-BB87-B7DB-C5E14569C8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542" y="2095054"/>
            <a:ext cx="4387317" cy="24678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77AB82-6CFF-3C5E-18E6-05C34FD0EB60}"/>
              </a:ext>
            </a:extLst>
          </p:cNvPr>
          <p:cNvSpPr txBox="1"/>
          <p:nvPr/>
        </p:nvSpPr>
        <p:spPr>
          <a:xfrm>
            <a:off x="5312228" y="5410198"/>
            <a:ext cx="158844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a.k.a., a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4E87BC-B219-36EB-0707-629837B41110}"/>
              </a:ext>
            </a:extLst>
          </p:cNvPr>
          <p:cNvSpPr txBox="1"/>
          <p:nvPr/>
        </p:nvSpPr>
        <p:spPr>
          <a:xfrm>
            <a:off x="4987169" y="5760807"/>
            <a:ext cx="297966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png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(portable network graphics)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11831-E460-241E-F63A-F8C1C7666E6D}"/>
              </a:ext>
            </a:extLst>
          </p:cNvPr>
          <p:cNvSpPr txBox="1"/>
          <p:nvPr/>
        </p:nvSpPr>
        <p:spPr>
          <a:xfrm>
            <a:off x="5556776" y="6247617"/>
            <a:ext cx="45525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.jpeg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83AA7-AA15-59E0-E41D-4AB802CF9F85}"/>
              </a:ext>
            </a:extLst>
          </p:cNvPr>
          <p:cNvSpPr txBox="1"/>
          <p:nvPr/>
        </p:nvSpPr>
        <p:spPr>
          <a:xfrm>
            <a:off x="6437408" y="6334417"/>
            <a:ext cx="46326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.bmp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8D28D9-0DC8-DA58-953E-0EFD77E6764E}"/>
              </a:ext>
            </a:extLst>
          </p:cNvPr>
          <p:cNvSpPr txBox="1"/>
          <p:nvPr/>
        </p:nvSpPr>
        <p:spPr>
          <a:xfrm>
            <a:off x="1905000" y="5767067"/>
            <a:ext cx="274402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svg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(scalable vector graphics)</a:t>
            </a:r>
          </a:p>
        </p:txBody>
      </p:sp>
    </p:spTree>
    <p:extLst>
      <p:ext uri="{BB962C8B-B14F-4D97-AF65-F5344CB8AC3E}">
        <p14:creationId xmlns:p14="http://schemas.microsoft.com/office/powerpoint/2010/main" val="1594676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11C40-B7EE-3648-A66B-A24750F798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Most things can be visualized as vector </a:t>
            </a:r>
            <a:r>
              <a:rPr lang="en-US" i="1" dirty="0"/>
              <a:t>or</a:t>
            </a:r>
            <a:r>
              <a:rPr lang="en-US" dirty="0"/>
              <a:t> raster</a:t>
            </a:r>
          </a:p>
          <a:p>
            <a:r>
              <a:rPr lang="en-US" dirty="0"/>
              <a:t>So which way is better?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C7C534-ADD0-51F5-AAD4-525F39E1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Graphics: Vector vs. Raster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0D3B93-EB20-35E9-3C59-2472C5633D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20" r="13305" b="6551"/>
          <a:stretch/>
        </p:blipFill>
        <p:spPr>
          <a:xfrm>
            <a:off x="4424258" y="690627"/>
            <a:ext cx="4453015" cy="5830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5A37EB-6BDC-47D6-C964-22FA6AFCE277}"/>
              </a:ext>
            </a:extLst>
          </p:cNvPr>
          <p:cNvSpPr txBox="1"/>
          <p:nvPr/>
        </p:nvSpPr>
        <p:spPr>
          <a:xfrm>
            <a:off x="4424258" y="6611779"/>
            <a:ext cx="258134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Credit: Clemson Intro to GIS</a:t>
            </a:r>
          </a:p>
        </p:txBody>
      </p:sp>
    </p:spTree>
    <p:extLst>
      <p:ext uri="{BB962C8B-B14F-4D97-AF65-F5344CB8AC3E}">
        <p14:creationId xmlns:p14="http://schemas.microsoft.com/office/powerpoint/2010/main" val="3100320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26F37D-570D-CF73-EE6D-6755E11E83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Electrical wires are lines</a:t>
            </a:r>
          </a:p>
          <a:p>
            <a:r>
              <a:rPr lang="en-US" dirty="0"/>
              <a:t>Always vectorized eventually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C6D628-6C73-6403-AE37-F0D54C9E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Graphics for PCB hardware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44DA7-9BCC-9377-3CDD-3B3A935F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34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811D61-9A44-7FC9-DF8F-8CA08E28A4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Which is easier?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F7013D-3354-013A-DD1C-E0B0C00B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Converting: vector ↔ raster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A6986-9486-0712-C733-639155495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87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4FEE8D-7179-F0D0-4AC0-7930AB4DB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SVG</a:t>
            </a:r>
          </a:p>
          <a:p>
            <a:pPr lvl="1"/>
            <a:r>
              <a:rPr lang="en-US" dirty="0"/>
              <a:t>Single layer</a:t>
            </a:r>
          </a:p>
          <a:p>
            <a:r>
              <a:rPr lang="en-US" dirty="0"/>
              <a:t>Bitmap</a:t>
            </a:r>
          </a:p>
          <a:p>
            <a:pPr lvl="1"/>
            <a:r>
              <a:rPr lang="en-US" dirty="0"/>
              <a:t>Single color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D00F5A-48AB-5762-CE3F-480B24FD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-native graphics imports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85B36-13E4-C657-85F9-072FF162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88369-9ABE-26CD-850D-699C26804D15}"/>
              </a:ext>
            </a:extLst>
          </p:cNvPr>
          <p:cNvSpPr txBox="1"/>
          <p:nvPr/>
        </p:nvSpPr>
        <p:spPr>
          <a:xfrm>
            <a:off x="5453743" y="3156857"/>
            <a:ext cx="27125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Asynchronous interactive time</a:t>
            </a:r>
          </a:p>
        </p:txBody>
      </p:sp>
    </p:spTree>
    <p:extLst>
      <p:ext uri="{BB962C8B-B14F-4D97-AF65-F5344CB8AC3E}">
        <p14:creationId xmlns:p14="http://schemas.microsoft.com/office/powerpoint/2010/main" val="3234614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E078B-69B0-60C4-2CDF-63A9C8E38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PCB</a:t>
            </a:r>
          </a:p>
        </p:txBody>
      </p:sp>
    </p:spTree>
    <p:extLst>
      <p:ext uri="{BB962C8B-B14F-4D97-AF65-F5344CB8AC3E}">
        <p14:creationId xmlns:p14="http://schemas.microsoft.com/office/powerpoint/2010/main" val="2861834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7C138-6592-17EB-0D76-6B7F6ABA35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75098A-2313-D036-899B-DD03448B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Stackup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4E2CE-308E-5EB2-2D31-E73D654D7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66950"/>
            <a:ext cx="3657600" cy="2324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4D218D-63CE-629E-51D9-8BC73764D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03" y="1104471"/>
            <a:ext cx="4553993" cy="260228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CF0E8E-F282-0F45-6B03-B5112960B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12557"/>
            <a:ext cx="4902200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23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1C0B24-63D7-9BF4-E0E6-8A9AB2C3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mask colors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A83C1-65F6-C94E-3D12-525B04AD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7674F-906D-134A-4B47-7E4DA4A9C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6" y="1495765"/>
            <a:ext cx="7772400" cy="345305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8CD7E5-7CC4-3926-9199-9D180D03CB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Usually green</a:t>
            </a:r>
          </a:p>
          <a:p>
            <a:r>
              <a:rPr lang="en-US" dirty="0"/>
              <a:t>Also: blue, black</a:t>
            </a:r>
          </a:p>
          <a:p>
            <a:r>
              <a:rPr lang="en-US" dirty="0"/>
              <a:t>Less common: red, white, yellow, purple, etc.</a:t>
            </a:r>
          </a:p>
        </p:txBody>
      </p:sp>
    </p:spTree>
    <p:extLst>
      <p:ext uri="{BB962C8B-B14F-4D97-AF65-F5344CB8AC3E}">
        <p14:creationId xmlns:p14="http://schemas.microsoft.com/office/powerpoint/2010/main" val="1362660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A71EC8-B809-C2B4-ED13-7550BC9F6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2049968"/>
          </a:xfrm>
        </p:spPr>
        <p:txBody>
          <a:bodyPr/>
          <a:lstStyle/>
          <a:p>
            <a:r>
              <a:rPr lang="en-US" dirty="0"/>
              <a:t>Silver or gold</a:t>
            </a:r>
          </a:p>
          <a:p>
            <a:r>
              <a:rPr lang="en-US" dirty="0"/>
              <a:t>That’s pretty much all we care about today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086CB7-A0B4-B8B1-6EB4-EE8A80DB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Copper finish colors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EE92E-13B6-B3CE-F96A-7963EE72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7EE55-DC38-9566-92B0-E25BB1F9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1" y="3581474"/>
            <a:ext cx="7065818" cy="286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1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AE7090-90DE-A4DF-33FD-664026EE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672FF-8980-B35E-C5C0-23C19A94DFD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8513" y="6403975"/>
            <a:ext cx="725487" cy="365125"/>
          </a:xfrm>
        </p:spPr>
        <p:txBody>
          <a:bodyPr/>
          <a:lstStyle/>
          <a:p>
            <a:fld id="{A1CE482F-FCB4-614E-8004-33C88C9952E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39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F5DC68-881E-4FD8-5701-5B664779D1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B776E2-8B03-4CF0-25ED-5DB3B2DC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Old fashioned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7487-6BD0-1D1D-E7F2-DC180E7A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9C6592-6B4C-6C62-4673-68B6F2B3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24339" y="1375220"/>
            <a:ext cx="7772400" cy="502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41BBB7-7174-D925-720E-0CD90ADEF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7" y="653360"/>
            <a:ext cx="1674745" cy="218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445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525B92-4FF0-63E1-22C3-C5BD26B82B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Modern circuit + layout design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139C06-169F-3F52-FA4A-BD26688E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KiCAD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CCDC3-23BE-6C09-0DE8-1DA20154E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9131F5-20BA-968F-1A5F-C144A2C55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97" y="823861"/>
            <a:ext cx="934132" cy="1290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EF7350-79C8-7976-79D1-5C062AB30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94" y="636288"/>
            <a:ext cx="4826049" cy="2714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25C475-0A99-8D33-7BC3-94FF7E230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93" y="3601008"/>
            <a:ext cx="4826049" cy="271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39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27A369-C8D4-7FAB-79B1-DA8476C728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F82309-2770-DC64-C93A-EA5490AC8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import dialog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C9477-17D2-C4E6-8C0D-C35E8324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BC17AB87-2C72-285A-AD86-54563EC2E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323" y="1004455"/>
            <a:ext cx="5447355" cy="48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860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8184F6-8DAF-CB0B-9782-D9EB5D02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vector graphics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1ECE7-6D42-B161-95C3-FCF82ABD47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8513" y="6403975"/>
            <a:ext cx="725487" cy="365125"/>
          </a:xfrm>
        </p:spPr>
        <p:txBody>
          <a:bodyPr/>
          <a:lstStyle/>
          <a:p>
            <a:fld id="{A1CE482F-FCB4-614E-8004-33C88C9952E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26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9DB5F-8CE4-5231-326B-D436F0FA12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73152" indent="0">
              <a:buNone/>
            </a:pPr>
            <a:r>
              <a:rPr lang="en-US" dirty="0"/>
              <a:t>Tips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DB8B7F-B855-4937-66CA-544711F3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Inkscape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37BDC-2599-5F3A-2779-7B1BB4B5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96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8FA12B-5A33-1A4D-47AC-FD3835EA58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Point / node</a:t>
            </a:r>
          </a:p>
          <a:p>
            <a:r>
              <a:rPr lang="en-US" dirty="0"/>
              <a:t>Segment</a:t>
            </a:r>
          </a:p>
          <a:p>
            <a:pPr lvl="1"/>
            <a:r>
              <a:rPr lang="en-US" dirty="0"/>
              <a:t>Line, or Curve</a:t>
            </a:r>
          </a:p>
          <a:p>
            <a:r>
              <a:rPr lang="en-US" dirty="0"/>
              <a:t>Path</a:t>
            </a:r>
          </a:p>
          <a:p>
            <a:pPr lvl="1"/>
            <a:r>
              <a:rPr lang="en-US" dirty="0"/>
              <a:t>Polygon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14878D-09F4-F49E-4EBC-33C50CB52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AF00C-9EE9-273F-FB01-B607F129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32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90CA48-E4C1-7613-A281-A45A3D5857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1" y="823861"/>
            <a:ext cx="4282577" cy="5765782"/>
          </a:xfrm>
        </p:spPr>
        <p:txBody>
          <a:bodyPr/>
          <a:lstStyle/>
          <a:p>
            <a:r>
              <a:rPr lang="en-US" dirty="0"/>
              <a:t>Boolean is a term from logic, something </a:t>
            </a:r>
            <a:r>
              <a:rPr lang="en-US" b="1" dirty="0"/>
              <a:t>True</a:t>
            </a:r>
            <a:r>
              <a:rPr lang="en-US" dirty="0"/>
              <a:t> or </a:t>
            </a:r>
            <a:r>
              <a:rPr lang="en-US" b="1" dirty="0"/>
              <a:t>False</a:t>
            </a:r>
            <a:r>
              <a:rPr lang="en-US" dirty="0"/>
              <a:t>...</a:t>
            </a:r>
          </a:p>
          <a:p>
            <a:pPr lvl="1"/>
            <a:r>
              <a:rPr lang="en-US" dirty="0"/>
              <a:t>In digital electronics: True = 5 Volts, False = 0 Volts</a:t>
            </a:r>
          </a:p>
          <a:p>
            <a:r>
              <a:rPr lang="en-US" dirty="0"/>
              <a:t>Operation: two things in, one thing out</a:t>
            </a:r>
          </a:p>
          <a:p>
            <a:pPr lvl="1"/>
            <a:r>
              <a:rPr lang="en-US" dirty="0"/>
              <a:t>A + B = C</a:t>
            </a:r>
          </a:p>
          <a:p>
            <a:pPr lvl="1"/>
            <a:r>
              <a:rPr lang="en-US" dirty="0"/>
              <a:t>A x B = D</a:t>
            </a:r>
          </a:p>
          <a:p>
            <a:r>
              <a:rPr lang="en-US" dirty="0"/>
              <a:t>In vector graphics: inputs and outputs are shapes</a:t>
            </a:r>
          </a:p>
          <a:p>
            <a:pPr lvl="1"/>
            <a:r>
              <a:rPr lang="en-US" dirty="0"/>
              <a:t>True = inside, False = outside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B85D97-B392-2A05-4D08-FF9ECE7C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103AE-1A62-BD1F-8ED6-BEDF69AA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BC908E-E1B8-4D59-478E-4F1293F064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6" r="2081"/>
          <a:stretch/>
        </p:blipFill>
        <p:spPr>
          <a:xfrm>
            <a:off x="4817680" y="4550402"/>
            <a:ext cx="4000747" cy="190217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408C9BC-1AD9-8729-50CC-6DC906123725}"/>
              </a:ext>
            </a:extLst>
          </p:cNvPr>
          <p:cNvGrpSpPr/>
          <p:nvPr/>
        </p:nvGrpSpPr>
        <p:grpSpPr>
          <a:xfrm>
            <a:off x="6004899" y="1104991"/>
            <a:ext cx="1670035" cy="759857"/>
            <a:chOff x="1093600" y="1552268"/>
            <a:chExt cx="1670035" cy="7598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F39750A-EDDF-CCF2-CB3C-0361E5E19FA6}"/>
                </a:ext>
              </a:extLst>
            </p:cNvPr>
            <p:cNvSpPr/>
            <p:nvPr/>
          </p:nvSpPr>
          <p:spPr>
            <a:xfrm>
              <a:off x="1606732" y="1724296"/>
              <a:ext cx="600046" cy="5878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3200" dirty="0">
                  <a:latin typeface="Proxima Nova" panose="02000506030000020004" pitchFamily="2" charset="0"/>
                  <a:ea typeface="Helvetica Light" charset="0"/>
                  <a:cs typeface="Helvetica Light" charset="0"/>
                </a:rPr>
                <a:t>+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CD16325-2C62-AF14-801E-E4FC73C41B75}"/>
                </a:ext>
              </a:extLst>
            </p:cNvPr>
            <p:cNvCxnSpPr/>
            <p:nvPr/>
          </p:nvCxnSpPr>
          <p:spPr>
            <a:xfrm>
              <a:off x="1162594" y="1829267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DBD2F04-0D74-C3C2-6AE0-895424111C8B}"/>
                </a:ext>
              </a:extLst>
            </p:cNvPr>
            <p:cNvCxnSpPr/>
            <p:nvPr/>
          </p:nvCxnSpPr>
          <p:spPr>
            <a:xfrm>
              <a:off x="1162529" y="2168435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612F529-FB7E-90CF-3C12-7784F071B9FA}"/>
                </a:ext>
              </a:extLst>
            </p:cNvPr>
            <p:cNvCxnSpPr/>
            <p:nvPr/>
          </p:nvCxnSpPr>
          <p:spPr>
            <a:xfrm>
              <a:off x="2206778" y="1998851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674031-19E4-BAED-5FAC-B5F86A73695A}"/>
                </a:ext>
              </a:extLst>
            </p:cNvPr>
            <p:cNvSpPr txBox="1"/>
            <p:nvPr/>
          </p:nvSpPr>
          <p:spPr>
            <a:xfrm>
              <a:off x="1093600" y="1552268"/>
              <a:ext cx="13785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dirty="0">
                  <a:latin typeface="Proxima Nova" panose="02000506030000020004" pitchFamily="2" charset="0"/>
                  <a:ea typeface="Avenir Next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B815A7-2846-A02B-119A-C656681B65E3}"/>
                </a:ext>
              </a:extLst>
            </p:cNvPr>
            <p:cNvSpPr txBox="1"/>
            <p:nvPr/>
          </p:nvSpPr>
          <p:spPr>
            <a:xfrm>
              <a:off x="1102325" y="1897733"/>
              <a:ext cx="13625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dirty="0">
                  <a:latin typeface="Proxima Nova" panose="02000506030000020004" pitchFamily="2" charset="0"/>
                  <a:ea typeface="Avenir Next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93485E-4758-CDBF-BC87-454712BA2100}"/>
                </a:ext>
              </a:extLst>
            </p:cNvPr>
            <p:cNvSpPr txBox="1"/>
            <p:nvPr/>
          </p:nvSpPr>
          <p:spPr>
            <a:xfrm>
              <a:off x="2625777" y="1721852"/>
              <a:ext cx="137858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dirty="0">
                  <a:latin typeface="Proxima Nova" panose="02000506030000020004" pitchFamily="2" charset="0"/>
                  <a:ea typeface="Avenir Next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866C2B6-D440-9635-C5FC-B5E14F60D742}"/>
              </a:ext>
            </a:extLst>
          </p:cNvPr>
          <p:cNvGrpSpPr/>
          <p:nvPr/>
        </p:nvGrpSpPr>
        <p:grpSpPr>
          <a:xfrm>
            <a:off x="5698687" y="2297360"/>
            <a:ext cx="2282459" cy="685897"/>
            <a:chOff x="805829" y="5461713"/>
            <a:chExt cx="2282459" cy="68589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8F9B0EF-C9CB-CB95-06B4-B29C02618836}"/>
                </a:ext>
              </a:extLst>
            </p:cNvPr>
            <p:cNvSpPr/>
            <p:nvPr/>
          </p:nvSpPr>
          <p:spPr>
            <a:xfrm>
              <a:off x="1632728" y="5477482"/>
              <a:ext cx="600046" cy="5878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3200" dirty="0">
                  <a:latin typeface="Proxima Nova" panose="02000506030000020004" pitchFamily="2" charset="0"/>
                  <a:ea typeface="Helvetica Light" charset="0"/>
                  <a:cs typeface="Helvetica Light" charset="0"/>
                </a:rPr>
                <a:t>+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61FD95B-8E1B-BC96-8815-F2F623159559}"/>
                </a:ext>
              </a:extLst>
            </p:cNvPr>
            <p:cNvCxnSpPr/>
            <p:nvPr/>
          </p:nvCxnSpPr>
          <p:spPr>
            <a:xfrm>
              <a:off x="1188590" y="5582453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E1E8BF4-5216-4F87-7C5C-ADC4D34F7082}"/>
                </a:ext>
              </a:extLst>
            </p:cNvPr>
            <p:cNvCxnSpPr/>
            <p:nvPr/>
          </p:nvCxnSpPr>
          <p:spPr>
            <a:xfrm>
              <a:off x="1188525" y="5921621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1B5EBF4-D41F-0EA6-6AE5-7C148B34FF36}"/>
                </a:ext>
              </a:extLst>
            </p:cNvPr>
            <p:cNvCxnSpPr/>
            <p:nvPr/>
          </p:nvCxnSpPr>
          <p:spPr>
            <a:xfrm>
              <a:off x="2232774" y="5752037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68E214E-7215-85F7-69CD-36BE800F09B5}"/>
                </a:ext>
              </a:extLst>
            </p:cNvPr>
            <p:cNvSpPr/>
            <p:nvPr/>
          </p:nvSpPr>
          <p:spPr>
            <a:xfrm>
              <a:off x="805829" y="5869375"/>
              <a:ext cx="284018" cy="278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32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377B837-134B-4463-948B-B89F4882952F}"/>
                </a:ext>
              </a:extLst>
            </p:cNvPr>
            <p:cNvSpPr/>
            <p:nvPr/>
          </p:nvSpPr>
          <p:spPr>
            <a:xfrm>
              <a:off x="853717" y="5461713"/>
              <a:ext cx="249466" cy="2371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8448B6D-4E60-7091-94D9-D80C3128AA2D}"/>
                </a:ext>
              </a:extLst>
            </p:cNvPr>
            <p:cNvSpPr/>
            <p:nvPr/>
          </p:nvSpPr>
          <p:spPr>
            <a:xfrm>
              <a:off x="2804270" y="5643386"/>
              <a:ext cx="284018" cy="278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32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AED085-001D-4655-9FDD-B6767785445E}"/>
                </a:ext>
              </a:extLst>
            </p:cNvPr>
            <p:cNvSpPr/>
            <p:nvPr/>
          </p:nvSpPr>
          <p:spPr>
            <a:xfrm>
              <a:off x="2696813" y="5524805"/>
              <a:ext cx="249466" cy="2371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ED7D66-CBEA-A060-26A8-D0C03925DAD7}"/>
              </a:ext>
            </a:extLst>
          </p:cNvPr>
          <p:cNvGrpSpPr/>
          <p:nvPr/>
        </p:nvGrpSpPr>
        <p:grpSpPr>
          <a:xfrm>
            <a:off x="5744578" y="3415769"/>
            <a:ext cx="2094559" cy="685897"/>
            <a:chOff x="4338188" y="5663485"/>
            <a:chExt cx="2094559" cy="68589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02D0FB0-9AA9-470F-83A9-8B92463D7976}"/>
                </a:ext>
              </a:extLst>
            </p:cNvPr>
            <p:cNvSpPr/>
            <p:nvPr/>
          </p:nvSpPr>
          <p:spPr>
            <a:xfrm>
              <a:off x="5165087" y="5679254"/>
              <a:ext cx="600046" cy="5878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3200" dirty="0">
                  <a:latin typeface="Proxima Nova" panose="02000506030000020004" pitchFamily="2" charset="0"/>
                  <a:ea typeface="Helvetica Light" charset="0"/>
                  <a:cs typeface="Helvetica Light" charset="0"/>
                </a:rPr>
                <a:t>x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A18121E-935D-22F3-AE49-F995B29FA8DF}"/>
                </a:ext>
              </a:extLst>
            </p:cNvPr>
            <p:cNvCxnSpPr/>
            <p:nvPr/>
          </p:nvCxnSpPr>
          <p:spPr>
            <a:xfrm>
              <a:off x="4720949" y="5784225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34363DE6-3C03-0B0E-DDF5-C8B4D223DC5B}"/>
                </a:ext>
              </a:extLst>
            </p:cNvPr>
            <p:cNvCxnSpPr/>
            <p:nvPr/>
          </p:nvCxnSpPr>
          <p:spPr>
            <a:xfrm>
              <a:off x="4720884" y="6123393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8D155BB-0576-6FAF-B47C-B72020297349}"/>
                </a:ext>
              </a:extLst>
            </p:cNvPr>
            <p:cNvCxnSpPr/>
            <p:nvPr/>
          </p:nvCxnSpPr>
          <p:spPr>
            <a:xfrm>
              <a:off x="5765133" y="5953809"/>
              <a:ext cx="44420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48D0444-7804-2DA9-CD1E-71D87505ECBA}"/>
                </a:ext>
              </a:extLst>
            </p:cNvPr>
            <p:cNvSpPr/>
            <p:nvPr/>
          </p:nvSpPr>
          <p:spPr>
            <a:xfrm>
              <a:off x="4338188" y="6071147"/>
              <a:ext cx="284018" cy="27823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32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47A181-4C82-EC0E-718B-D56DF264EAC7}"/>
                </a:ext>
              </a:extLst>
            </p:cNvPr>
            <p:cNvSpPr/>
            <p:nvPr/>
          </p:nvSpPr>
          <p:spPr>
            <a:xfrm>
              <a:off x="4386076" y="5663485"/>
              <a:ext cx="249466" cy="23716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  <p:sp>
          <p:nvSpPr>
            <p:cNvPr id="46" name="Pie 45">
              <a:extLst>
                <a:ext uri="{FF2B5EF4-FFF2-40B4-BE49-F238E27FC236}">
                  <a16:creationId xmlns:a16="http://schemas.microsoft.com/office/drawing/2014/main" id="{CB22E90A-A0CF-8479-FE68-8AD8E7109902}"/>
                </a:ext>
              </a:extLst>
            </p:cNvPr>
            <p:cNvSpPr/>
            <p:nvPr/>
          </p:nvSpPr>
          <p:spPr>
            <a:xfrm>
              <a:off x="6183281" y="5720424"/>
              <a:ext cx="249466" cy="249466"/>
            </a:xfrm>
            <a:prstGeom prst="pie">
              <a:avLst>
                <a:gd name="adj1" fmla="val 0"/>
                <a:gd name="adj2" fmla="val 533575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endParaRPr lang="en-US" sz="2000" dirty="0">
                <a:solidFill>
                  <a:schemeClr val="tx1"/>
                </a:solidFill>
                <a:latin typeface="Proxima Nova" panose="02000506030000020004" pitchFamily="2" charset="0"/>
                <a:ea typeface="Helvetica Light" charset="0"/>
                <a:cs typeface="Helvetica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0107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B85D97-B392-2A05-4D08-FF9ECE7CF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103AE-1A62-BD1F-8ED6-BEDF69AA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27</a:t>
            </a:fld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500AAC4-1D00-80BF-66D5-D3A50332EE35}"/>
              </a:ext>
            </a:extLst>
          </p:cNvPr>
          <p:cNvSpPr/>
          <p:nvPr/>
        </p:nvSpPr>
        <p:spPr>
          <a:xfrm>
            <a:off x="3296653" y="1251284"/>
            <a:ext cx="1684421" cy="1684421"/>
          </a:xfrm>
          <a:prstGeom prst="ellipse">
            <a:avLst/>
          </a:prstGeom>
          <a:solidFill>
            <a:schemeClr val="tx1">
              <a:lumMod val="85000"/>
              <a:lumOff val="15000"/>
              <a:alpha val="2512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D82B1EE-1FED-00E2-4CF0-FDE5381890BB}"/>
              </a:ext>
            </a:extLst>
          </p:cNvPr>
          <p:cNvSpPr/>
          <p:nvPr/>
        </p:nvSpPr>
        <p:spPr>
          <a:xfrm>
            <a:off x="4199021" y="1251284"/>
            <a:ext cx="1684421" cy="1684421"/>
          </a:xfrm>
          <a:prstGeom prst="ellipse">
            <a:avLst/>
          </a:prstGeom>
          <a:solidFill>
            <a:schemeClr val="tx1">
              <a:lumMod val="85000"/>
              <a:lumOff val="15000"/>
              <a:alpha val="2512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4B5D27-5FD6-68A4-5220-DBF384E4A048}"/>
              </a:ext>
            </a:extLst>
          </p:cNvPr>
          <p:cNvSpPr txBox="1"/>
          <p:nvPr/>
        </p:nvSpPr>
        <p:spPr>
          <a:xfrm>
            <a:off x="2767263" y="1299411"/>
            <a:ext cx="74379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Shape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CCFD57-8182-C57B-CB9B-50E381665100}"/>
              </a:ext>
            </a:extLst>
          </p:cNvPr>
          <p:cNvSpPr txBox="1"/>
          <p:nvPr/>
        </p:nvSpPr>
        <p:spPr>
          <a:xfrm>
            <a:off x="5669039" y="1299410"/>
            <a:ext cx="74058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Shape 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A4538C-F4BF-792D-488C-D0B343E1B16E}"/>
              </a:ext>
            </a:extLst>
          </p:cNvPr>
          <p:cNvCxnSpPr>
            <a:cxnSpLocks/>
          </p:cNvCxnSpPr>
          <p:nvPr/>
        </p:nvCxnSpPr>
        <p:spPr>
          <a:xfrm flipV="1">
            <a:off x="2213811" y="2093494"/>
            <a:ext cx="1347536" cy="324853"/>
          </a:xfrm>
          <a:prstGeom prst="straightConnector1">
            <a:avLst/>
          </a:prstGeom>
          <a:ln w="19050"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184B595-F9A9-1D20-26C5-2D6E63BCCE41}"/>
              </a:ext>
            </a:extLst>
          </p:cNvPr>
          <p:cNvSpPr txBox="1"/>
          <p:nvPr/>
        </p:nvSpPr>
        <p:spPr>
          <a:xfrm>
            <a:off x="1586908" y="2355819"/>
            <a:ext cx="6269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Point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30E85-3555-F836-84A2-CD176305938D}"/>
              </a:ext>
            </a:extLst>
          </p:cNvPr>
          <p:cNvSpPr txBox="1"/>
          <p:nvPr/>
        </p:nvSpPr>
        <p:spPr>
          <a:xfrm>
            <a:off x="3470896" y="3182779"/>
            <a:ext cx="62690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Point 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1B207B-F239-9998-0B27-82C771E12831}"/>
              </a:ext>
            </a:extLst>
          </p:cNvPr>
          <p:cNvCxnSpPr>
            <a:cxnSpLocks/>
          </p:cNvCxnSpPr>
          <p:nvPr/>
        </p:nvCxnSpPr>
        <p:spPr>
          <a:xfrm flipV="1">
            <a:off x="4097799" y="2570747"/>
            <a:ext cx="474201" cy="612032"/>
          </a:xfrm>
          <a:prstGeom prst="straightConnector1">
            <a:avLst/>
          </a:prstGeom>
          <a:ln w="19050"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EA214D7-9AC6-4659-8B62-DB9D07CD300D}"/>
              </a:ext>
            </a:extLst>
          </p:cNvPr>
          <p:cNvSpPr txBox="1"/>
          <p:nvPr/>
        </p:nvSpPr>
        <p:spPr>
          <a:xfrm>
            <a:off x="422304" y="3739426"/>
            <a:ext cx="347592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Intersection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(a.k.a. AND): 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”Point 2 is inside shape A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and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inside shape B, so Point 2 is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inside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the output shape”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93B715-6DAA-EBF8-451D-B1613594097D}"/>
              </a:ext>
            </a:extLst>
          </p:cNvPr>
          <p:cNvSpPr txBox="1"/>
          <p:nvPr/>
        </p:nvSpPr>
        <p:spPr>
          <a:xfrm>
            <a:off x="422305" y="5199568"/>
            <a:ext cx="347592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u="sng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Union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(a.k.a. OR): </a:t>
            </a:r>
          </a:p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”Point 2 is inside shape A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or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inside shape B, so Point 2 is </a:t>
            </a:r>
            <a:r>
              <a:rPr lang="en-US" sz="1600" b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inside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 the output shape”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246668-0498-7C42-2A22-7B7A24CF78FE}"/>
              </a:ext>
            </a:extLst>
          </p:cNvPr>
          <p:cNvSpPr txBox="1"/>
          <p:nvPr/>
        </p:nvSpPr>
        <p:spPr>
          <a:xfrm>
            <a:off x="4860758" y="4108757"/>
            <a:ext cx="287969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Repeat this logic for every point</a:t>
            </a:r>
          </a:p>
        </p:txBody>
      </p:sp>
    </p:spTree>
    <p:extLst>
      <p:ext uri="{BB962C8B-B14F-4D97-AF65-F5344CB8AC3E}">
        <p14:creationId xmlns:p14="http://schemas.microsoft.com/office/powerpoint/2010/main" val="1379326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8C1314-FBB3-BDF2-9CB9-F708E438A9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This is very useful for us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3151A7-CEDE-7092-F373-492C943C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Inset/outset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C3869-B4D9-342D-A5AE-A4D5D93F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57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03D2C8-05AA-2DE3-EF94-89BA44635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Make things the right size</a:t>
            </a:r>
          </a:p>
          <a:p>
            <a:r>
              <a:rPr lang="en-US"/>
              <a:t>Locking the aspect ratio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6B5EA8-FF33-3C6E-7B55-A0968B52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912F-9E87-EF6D-75AB-B95EA971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76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1A7DCC-4F45-8798-31DC-CE87E9B296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Naming</a:t>
            </a:r>
          </a:p>
          <a:p>
            <a:r>
              <a:rPr lang="en-US" dirty="0"/>
              <a:t>Hiding/Showing</a:t>
            </a:r>
          </a:p>
          <a:p>
            <a:r>
              <a:rPr lang="en-US" dirty="0"/>
              <a:t>Ordering</a:t>
            </a:r>
          </a:p>
          <a:p>
            <a:r>
              <a:rPr lang="en-US" dirty="0"/>
              <a:t>Coloring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8C4FA2-6E28-0E2D-460A-EF79EB96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in SVG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5AD28-26BD-1621-8484-A922F8D8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09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55185B-4F18-FA13-54E9-F40A9A5F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SVG Layers </a:t>
            </a:r>
            <a:r>
              <a:rPr lang="en-US" i="1" dirty="0"/>
              <a:t>for PCB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B2B82-03E5-0632-33E9-7916BC27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B8A4F-2C9E-8E07-6E8E-6A52E2C051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451"/>
          <a:stretch/>
        </p:blipFill>
        <p:spPr>
          <a:xfrm>
            <a:off x="1309586" y="4719066"/>
            <a:ext cx="6524828" cy="1839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8FC1B6-74D1-8670-A989-8F8E9523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089" y="1058581"/>
            <a:ext cx="2315807" cy="304266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1970C1-19E0-FC41-874C-3EB5A6ED2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572000" cy="3895205"/>
          </a:xfrm>
        </p:spPr>
        <p:txBody>
          <a:bodyPr/>
          <a:lstStyle/>
          <a:p>
            <a:r>
              <a:rPr lang="en-US" dirty="0" err="1"/>
              <a:t>F.x</a:t>
            </a:r>
            <a:r>
              <a:rPr lang="en-US" dirty="0"/>
              <a:t> (front) </a:t>
            </a:r>
            <a:r>
              <a:rPr lang="en-US" dirty="0" err="1"/>
              <a:t>B.x</a:t>
            </a:r>
            <a:r>
              <a:rPr lang="en-US" dirty="0"/>
              <a:t> (back)</a:t>
            </a:r>
          </a:p>
          <a:p>
            <a:r>
              <a:rPr lang="en-US" dirty="0" err="1"/>
              <a:t>x.Cu</a:t>
            </a:r>
            <a:r>
              <a:rPr lang="en-US" dirty="0"/>
              <a:t> = copper</a:t>
            </a:r>
          </a:p>
          <a:p>
            <a:r>
              <a:rPr lang="en-US" dirty="0"/>
              <a:t>So </a:t>
            </a:r>
            <a:r>
              <a:rPr lang="en-US" dirty="0" err="1"/>
              <a:t>F.Cu</a:t>
            </a:r>
            <a:r>
              <a:rPr lang="en-US" dirty="0"/>
              <a:t> = front copper</a:t>
            </a:r>
          </a:p>
          <a:p>
            <a:r>
              <a:rPr lang="en-US" dirty="0" err="1"/>
              <a:t>x.Mask</a:t>
            </a:r>
            <a:r>
              <a:rPr lang="en-US" dirty="0"/>
              <a:t> layers are </a:t>
            </a:r>
            <a:r>
              <a:rPr lang="en-US" u="sng" dirty="0"/>
              <a:t>inverted</a:t>
            </a:r>
          </a:p>
          <a:p>
            <a:pPr lvl="1"/>
            <a:r>
              <a:rPr lang="en-US" dirty="0"/>
              <a:t>Shapes on Mask layers will be openings in the solder mask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60D0F-E5A9-1FE2-95A2-F7C7D043B495}"/>
              </a:ext>
            </a:extLst>
          </p:cNvPr>
          <p:cNvSpPr/>
          <p:nvPr/>
        </p:nvSpPr>
        <p:spPr>
          <a:xfrm>
            <a:off x="5988089" y="1676400"/>
            <a:ext cx="2315807" cy="1186543"/>
          </a:xfrm>
          <a:prstGeom prst="rect">
            <a:avLst/>
          </a:prstGeom>
          <a:solidFill>
            <a:schemeClr val="bg1">
              <a:lumMod val="85000"/>
              <a:alpha val="94743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899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7640-22D7-5304-2FFD-151A00D1B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50281"/>
            <a:ext cx="8229600" cy="1143000"/>
          </a:xfrm>
        </p:spPr>
        <p:txBody>
          <a:bodyPr/>
          <a:lstStyle/>
          <a:p>
            <a:r>
              <a:rPr lang="en-US" dirty="0"/>
              <a:t>Multi-layer graphics</a:t>
            </a:r>
          </a:p>
        </p:txBody>
      </p:sp>
      <p:pic>
        <p:nvPicPr>
          <p:cNvPr id="3" name="Picture 2" descr="A round object with a dragon and panther on it&#10;&#10;Description automatically generated">
            <a:extLst>
              <a:ext uri="{FF2B5EF4-FFF2-40B4-BE49-F238E27FC236}">
                <a16:creationId xmlns:a16="http://schemas.microsoft.com/office/drawing/2014/main" id="{5FA3865B-5A84-F53E-B8B4-08DCC255E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58" y="2793281"/>
            <a:ext cx="3871161" cy="3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137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03D2C8-05AA-2DE3-EF94-89BA44635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Open Terminal</a:t>
            </a:r>
          </a:p>
          <a:p>
            <a:r>
              <a:rPr lang="en-US" dirty="0"/>
              <a:t>Install `svg2mod`</a:t>
            </a:r>
          </a:p>
          <a:p>
            <a:r>
              <a:rPr lang="en-US" dirty="0"/>
              <a:t>Move shapes to named layers</a:t>
            </a:r>
          </a:p>
          <a:p>
            <a:r>
              <a:rPr lang="en-US" dirty="0"/>
              <a:t>Use svg2mod to convert</a:t>
            </a:r>
          </a:p>
          <a:p>
            <a:r>
              <a:rPr lang="en-US" dirty="0"/>
              <a:t>Open footprint editor</a:t>
            </a:r>
          </a:p>
          <a:p>
            <a:r>
              <a:rPr lang="en-US" dirty="0"/>
              <a:t>Import the new footprint</a:t>
            </a:r>
          </a:p>
          <a:p>
            <a:r>
              <a:rPr lang="en-US" dirty="0"/>
              <a:t>Insert into board</a:t>
            </a:r>
          </a:p>
          <a:p>
            <a:r>
              <a:rPr lang="en-US" dirty="0"/>
              <a:t>Inspect in 3D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6B5EA8-FF33-3C6E-7B55-A0968B52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912F-9E87-EF6D-75AB-B95EA971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63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03D2C8-05AA-2DE3-EF94-89BA44635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Edit SVG paths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6B5EA8-FF33-3C6E-7B55-A0968B52D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step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912F-9E87-EF6D-75AB-B95EA971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6E690-396C-000E-16D1-6C6BC80A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386" y="2015679"/>
            <a:ext cx="4942599" cy="39407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613CB3-4850-41EC-F500-55A676A19D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387" b="96131"/>
          <a:stretch/>
        </p:blipFill>
        <p:spPr>
          <a:xfrm>
            <a:off x="4210375" y="1124970"/>
            <a:ext cx="3640622" cy="2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67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7640-22D7-5304-2FFD-151A00D1B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a PCB for fabrication</a:t>
            </a:r>
          </a:p>
        </p:txBody>
      </p:sp>
    </p:spTree>
    <p:extLst>
      <p:ext uri="{BB962C8B-B14F-4D97-AF65-F5344CB8AC3E}">
        <p14:creationId xmlns:p14="http://schemas.microsoft.com/office/powerpoint/2010/main" val="855332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03DE3-FC46-7A73-F014-A541DDF9D7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Starting in .</a:t>
            </a:r>
            <a:r>
              <a:rPr lang="en-US" dirty="0" err="1"/>
              <a:t>kicad_pcb</a:t>
            </a:r>
            <a:endParaRPr lang="en-US" dirty="0"/>
          </a:p>
          <a:p>
            <a:r>
              <a:rPr lang="en-US" dirty="0"/>
              <a:t>Review 3D + ERC (good practice)</a:t>
            </a:r>
          </a:p>
          <a:p>
            <a:r>
              <a:rPr lang="en-US" dirty="0"/>
              <a:t>Plot </a:t>
            </a:r>
            <a:r>
              <a:rPr lang="en-US" dirty="0" err="1"/>
              <a:t>gerbers</a:t>
            </a:r>
            <a:endParaRPr lang="en-US" dirty="0"/>
          </a:p>
          <a:p>
            <a:r>
              <a:rPr lang="en-US" dirty="0"/>
              <a:t>Zip folder of </a:t>
            </a:r>
            <a:r>
              <a:rPr lang="en-US" dirty="0" err="1"/>
              <a:t>gerbers</a:t>
            </a:r>
            <a:endParaRPr lang="en-US" dirty="0"/>
          </a:p>
          <a:p>
            <a:r>
              <a:rPr lang="en-US" dirty="0"/>
              <a:t>Drag-drop to </a:t>
            </a:r>
            <a:r>
              <a:rPr lang="en-US" dirty="0" err="1"/>
              <a:t>JLCPCB</a:t>
            </a:r>
            <a:endParaRPr lang="en-US" dirty="0"/>
          </a:p>
          <a:p>
            <a:r>
              <a:rPr lang="en-US" dirty="0"/>
              <a:t>Inspect upload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A07D9A-22C8-328E-3FDA-FFA6AD6D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910313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03520E-F932-BE1D-E42E-8E26B51FA2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FBE8F0-203D-14B9-50AE-A64EF3F2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</a:t>
            </a:r>
            <a:r>
              <a:rPr lang="en-US" dirty="0" err="1"/>
              <a:t>gerbers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9E728-4C25-5D45-A1B4-DFA7EAC1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95AD8C-7377-EAEA-429E-7CC60B476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30" y="1813419"/>
            <a:ext cx="3837140" cy="16227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D972B-D7A4-3BEC-5487-2F81B23D3164}"/>
              </a:ext>
            </a:extLst>
          </p:cNvPr>
          <p:cNvSpPr txBox="1"/>
          <p:nvPr/>
        </p:nvSpPr>
        <p:spPr>
          <a:xfrm>
            <a:off x="1018308" y="1132981"/>
            <a:ext cx="1372171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Print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Do not use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47F85-C638-4414-F7AC-42D5FEC7B700}"/>
              </a:ext>
            </a:extLst>
          </p:cNvPr>
          <p:cNvSpPr txBox="1"/>
          <p:nvPr/>
        </p:nvSpPr>
        <p:spPr>
          <a:xfrm>
            <a:off x="2841641" y="1379202"/>
            <a:ext cx="426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20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Plot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964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244F081-FFCE-143D-F668-7137675A8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98" y="2093879"/>
            <a:ext cx="7065818" cy="401301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9FBE8F0-203D-14B9-50AE-A64EF3F2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</a:t>
            </a:r>
            <a:r>
              <a:rPr lang="en-US" dirty="0" err="1"/>
              <a:t>gerbers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9E728-4C25-5D45-A1B4-DFA7EAC1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81D7E-88F9-B691-8C6D-583E311B4AA1}"/>
              </a:ext>
            </a:extLst>
          </p:cNvPr>
          <p:cNvSpPr txBox="1"/>
          <p:nvPr/>
        </p:nvSpPr>
        <p:spPr>
          <a:xfrm>
            <a:off x="3815344" y="1416771"/>
            <a:ext cx="2390976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Don’t leave this field blank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25D69-993D-F671-C6A7-A0A60154F363}"/>
              </a:ext>
            </a:extLst>
          </p:cNvPr>
          <p:cNvSpPr txBox="1"/>
          <p:nvPr/>
        </p:nvSpPr>
        <p:spPr>
          <a:xfrm>
            <a:off x="760313" y="1501863"/>
            <a:ext cx="1543810" cy="430887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Check that these are selected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166054-49D6-E7FE-6072-6A54B81B6E2F}"/>
              </a:ext>
            </a:extLst>
          </p:cNvPr>
          <p:cNvSpPr txBox="1"/>
          <p:nvPr/>
        </p:nvSpPr>
        <p:spPr>
          <a:xfrm>
            <a:off x="4576946" y="5165718"/>
            <a:ext cx="1785361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i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Deselect 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X2 format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59DCF0-B397-42F9-79DC-4B618793B7B2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532218" y="1932750"/>
            <a:ext cx="0" cy="81045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AC2015-34CA-D0BC-9302-A56BA8BDB0DB}"/>
              </a:ext>
            </a:extLst>
          </p:cNvPr>
          <p:cNvCxnSpPr>
            <a:cxnSpLocks/>
          </p:cNvCxnSpPr>
          <p:nvPr/>
        </p:nvCxnSpPr>
        <p:spPr>
          <a:xfrm flipH="1">
            <a:off x="4204793" y="1662992"/>
            <a:ext cx="584022" cy="69736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497BEE-B9E4-6766-C74C-428FC03D7AC6}"/>
              </a:ext>
            </a:extLst>
          </p:cNvPr>
          <p:cNvCxnSpPr>
            <a:cxnSpLocks/>
          </p:cNvCxnSpPr>
          <p:nvPr/>
        </p:nvCxnSpPr>
        <p:spPr>
          <a:xfrm flipV="1">
            <a:off x="5430644" y="4348976"/>
            <a:ext cx="546410" cy="8167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461C65D-1A18-730A-C442-0FCA65F839C2}"/>
              </a:ext>
            </a:extLst>
          </p:cNvPr>
          <p:cNvSpPr txBox="1"/>
          <p:nvPr/>
        </p:nvSpPr>
        <p:spPr>
          <a:xfrm>
            <a:off x="2442684" y="5165718"/>
            <a:ext cx="1316066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i="1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Deselect </a:t>
            </a:r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these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152E852-9D8E-8D27-EE0B-ECE21DECB28C}"/>
              </a:ext>
            </a:extLst>
          </p:cNvPr>
          <p:cNvCxnSpPr>
            <a:cxnSpLocks/>
          </p:cNvCxnSpPr>
          <p:nvPr/>
        </p:nvCxnSpPr>
        <p:spPr>
          <a:xfrm flipV="1">
            <a:off x="3296382" y="4348976"/>
            <a:ext cx="546410" cy="816742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FDD3C5F-6A4B-2C0D-63DE-97DA7FD6AF99}"/>
              </a:ext>
            </a:extLst>
          </p:cNvPr>
          <p:cNvSpPr txBox="1"/>
          <p:nvPr/>
        </p:nvSpPr>
        <p:spPr>
          <a:xfrm>
            <a:off x="3078959" y="6268022"/>
            <a:ext cx="2597004" cy="492443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First click Drill Files and press OK in the new popup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2895B-5F44-EEDE-1EBF-7F81B422F08B}"/>
              </a:ext>
            </a:extLst>
          </p:cNvPr>
          <p:cNvSpPr txBox="1"/>
          <p:nvPr/>
        </p:nvSpPr>
        <p:spPr>
          <a:xfrm>
            <a:off x="6206320" y="6391132"/>
            <a:ext cx="2597004" cy="246221"/>
          </a:xfrm>
          <a:prstGeom prst="rect">
            <a:avLst/>
          </a:prstGeom>
          <a:solidFill>
            <a:schemeClr val="bg1">
              <a:alpha val="43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Finally, press PLOT here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077AAB-3548-ED66-8B7C-EFFE45A814E7}"/>
              </a:ext>
            </a:extLst>
          </p:cNvPr>
          <p:cNvCxnSpPr>
            <a:cxnSpLocks/>
          </p:cNvCxnSpPr>
          <p:nvPr/>
        </p:nvCxnSpPr>
        <p:spPr>
          <a:xfrm flipV="1">
            <a:off x="5475196" y="6045999"/>
            <a:ext cx="1330736" cy="3438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2E2EB0-E57F-613B-DAFF-D1C40531C1A8}"/>
              </a:ext>
            </a:extLst>
          </p:cNvPr>
          <p:cNvCxnSpPr>
            <a:cxnSpLocks/>
          </p:cNvCxnSpPr>
          <p:nvPr/>
        </p:nvCxnSpPr>
        <p:spPr>
          <a:xfrm flipV="1">
            <a:off x="7058722" y="6059421"/>
            <a:ext cx="742150" cy="34381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193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84C388-C654-F8A5-55B7-0B1929370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14" y="2274455"/>
            <a:ext cx="4912066" cy="230909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C0FE93D-7336-5F06-8ADD-C1F5AC24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Compressing to zip archive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0E079-31C0-0D31-4F75-127A9467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39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0A209-5472-7B63-D2E9-2DE7583ACC79}"/>
              </a:ext>
            </a:extLst>
          </p:cNvPr>
          <p:cNvSpPr txBox="1"/>
          <p:nvPr/>
        </p:nvSpPr>
        <p:spPr>
          <a:xfrm>
            <a:off x="2286000" y="1747679"/>
            <a:ext cx="91871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Right click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1737B7-3527-EBEE-8209-F40E28ED0B0D}"/>
              </a:ext>
            </a:extLst>
          </p:cNvPr>
          <p:cNvCxnSpPr>
            <a:cxnSpLocks/>
          </p:cNvCxnSpPr>
          <p:nvPr/>
        </p:nvCxnSpPr>
        <p:spPr>
          <a:xfrm flipH="1">
            <a:off x="2286000" y="1993900"/>
            <a:ext cx="334537" cy="28055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B1FA7AE-F7F1-24AE-EDFB-AD2251AAD967}"/>
              </a:ext>
            </a:extLst>
          </p:cNvPr>
          <p:cNvSpPr txBox="1"/>
          <p:nvPr/>
        </p:nvSpPr>
        <p:spPr>
          <a:xfrm>
            <a:off x="2196790" y="5776332"/>
            <a:ext cx="414434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Windows/Linux: google how to zip a directory</a:t>
            </a:r>
          </a:p>
        </p:txBody>
      </p:sp>
    </p:spTree>
    <p:extLst>
      <p:ext uri="{BB962C8B-B14F-4D97-AF65-F5344CB8AC3E}">
        <p14:creationId xmlns:p14="http://schemas.microsoft.com/office/powerpoint/2010/main" val="3201188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A4F72A-6D6E-0371-9D01-DD7AE2F915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8998CB-EFCC-3BF2-59EE-128E450D1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Uploading to </a:t>
            </a:r>
            <a:r>
              <a:rPr lang="en-US" dirty="0" err="1"/>
              <a:t>JLCPCB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3961C-5D84-3FEA-7DCF-E39DF7FD4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88D3A-907E-A5A8-2FE3-AD902351B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848" y="2137560"/>
            <a:ext cx="4438185" cy="25828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180578-EAF7-7AAB-EB7F-4BC3683FF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57" y="2279225"/>
            <a:ext cx="2318632" cy="2299550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A795E20-F289-33E9-30E7-78FA6D0A03E0}"/>
              </a:ext>
            </a:extLst>
          </p:cNvPr>
          <p:cNvCxnSpPr/>
          <p:nvPr/>
        </p:nvCxnSpPr>
        <p:spPr>
          <a:xfrm flipV="1">
            <a:off x="3078111" y="3858322"/>
            <a:ext cx="1772670" cy="423746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388BE5-1342-D40C-48A9-7023EC7172BE}"/>
              </a:ext>
            </a:extLst>
          </p:cNvPr>
          <p:cNvSpPr txBox="1"/>
          <p:nvPr/>
        </p:nvSpPr>
        <p:spPr>
          <a:xfrm>
            <a:off x="3395193" y="3640740"/>
            <a:ext cx="88030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600" dirty="0" err="1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drag,drop</a:t>
            </a:r>
            <a:endParaRPr lang="en-US" sz="1600" dirty="0">
              <a:latin typeface="Proxima Nova" panose="02000506030000020004" pitchFamily="2" charset="0"/>
              <a:ea typeface="Avenir Next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197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D5DDCDC-7537-2653-0EC4-70328850D4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E561E8-561E-9E4E-96A1-8F7C544AF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 upload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AD1A2-B37D-A008-4F60-DA6B29C9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94DF38-0910-4633-3D5F-5A26D0CC8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48" y="1903672"/>
            <a:ext cx="6423471" cy="360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61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2440C6-8208-B66B-33FC-C38968F7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8686800" cy="482858"/>
          </a:xfrm>
        </p:spPr>
        <p:txBody>
          <a:bodyPr/>
          <a:lstStyle/>
          <a:p>
            <a:r>
              <a:rPr lang="en-US" dirty="0"/>
              <a:t>Configuring the physical properties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B29D03-64C0-E507-6CF1-9F2267E4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082457"/>
            <a:ext cx="8549640" cy="469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878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5E0F6-F656-1DBA-1DD4-8294D01881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3913902" cy="5765782"/>
          </a:xfrm>
        </p:spPr>
        <p:txBody>
          <a:bodyPr/>
          <a:lstStyle/>
          <a:p>
            <a:r>
              <a:rPr lang="en-US" dirty="0"/>
              <a:t>Quantity</a:t>
            </a:r>
          </a:p>
          <a:p>
            <a:r>
              <a:rPr lang="en-US" dirty="0"/>
              <a:t>Core Material</a:t>
            </a:r>
          </a:p>
          <a:p>
            <a:r>
              <a:rPr lang="en-US" dirty="0"/>
              <a:t>PCB Thickness</a:t>
            </a:r>
          </a:p>
          <a:p>
            <a:r>
              <a:rPr lang="en-US" dirty="0" err="1"/>
              <a:t>Soldermask</a:t>
            </a:r>
            <a:r>
              <a:rPr lang="en-US" dirty="0"/>
              <a:t> Color</a:t>
            </a:r>
          </a:p>
          <a:p>
            <a:r>
              <a:rPr lang="en-US" dirty="0"/>
              <a:t>Surface Finish</a:t>
            </a:r>
          </a:p>
          <a:p>
            <a:endParaRPr lang="en-US" dirty="0"/>
          </a:p>
          <a:p>
            <a:r>
              <a:rPr lang="en-US" dirty="0"/>
              <a:t>We will not need the rest of the properties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2440C6-8208-B66B-33FC-C38968F7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you can change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D2B13C-0050-B869-483E-69934D9027F3}"/>
              </a:ext>
            </a:extLst>
          </p:cNvPr>
          <p:cNvGrpSpPr/>
          <p:nvPr/>
        </p:nvGrpSpPr>
        <p:grpSpPr>
          <a:xfrm>
            <a:off x="3913903" y="711458"/>
            <a:ext cx="5118586" cy="5917942"/>
            <a:chOff x="3440291" y="1121326"/>
            <a:chExt cx="3830305" cy="442847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2B29D03-64C0-E507-6CF1-9F2267E4B3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28214"/>
            <a:stretch/>
          </p:blipFill>
          <p:spPr>
            <a:xfrm>
              <a:off x="3440292" y="1121326"/>
              <a:ext cx="3830304" cy="2928895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3A251C6-9283-7D26-A1A6-49EE24B9D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40291" y="4050221"/>
              <a:ext cx="3830304" cy="14995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17706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28B5C4-B676-0D75-1DA3-6CD064B3D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FFEAB-26D5-8C42-A7A7-EF912F20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Offloads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71A26-5F1D-F634-FE3A-EDC19609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13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D72F7A-F2B1-60A1-1EEC-B4669DA56C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" y="823861"/>
            <a:ext cx="4200312" cy="576578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Defaults: funded by the workshop ticket price</a:t>
            </a:r>
          </a:p>
          <a:p>
            <a:pPr lvl="1"/>
            <a:r>
              <a:rPr lang="en-US" dirty="0"/>
              <a:t>5x qty</a:t>
            </a:r>
          </a:p>
          <a:p>
            <a:pPr lvl="1"/>
            <a:r>
              <a:rPr lang="en-US" dirty="0"/>
              <a:t>Any color</a:t>
            </a:r>
          </a:p>
          <a:p>
            <a:pPr lvl="1"/>
            <a:r>
              <a:rPr lang="en-US" dirty="0"/>
              <a:t>1.6mm thickness</a:t>
            </a:r>
          </a:p>
          <a:p>
            <a:pPr lvl="1"/>
            <a:r>
              <a:rPr lang="en-US" dirty="0"/>
              <a:t>Silver surface finish</a:t>
            </a:r>
          </a:p>
          <a:p>
            <a:pPr lvl="1"/>
            <a:r>
              <a:rPr lang="en-US" dirty="0"/>
              <a:t>Fiberglass core</a:t>
            </a:r>
          </a:p>
          <a:p>
            <a:r>
              <a:rPr lang="en-US" dirty="0"/>
              <a:t>Add-ons: cost extra</a:t>
            </a:r>
          </a:p>
          <a:p>
            <a:pPr lvl="1"/>
            <a:r>
              <a:rPr lang="en-US" dirty="0"/>
              <a:t>Greater qty</a:t>
            </a:r>
          </a:p>
          <a:p>
            <a:pPr lvl="1"/>
            <a:r>
              <a:rPr lang="en-US" dirty="0"/>
              <a:t>Gold surface finish</a:t>
            </a:r>
          </a:p>
          <a:p>
            <a:pPr lvl="1"/>
            <a:r>
              <a:rPr lang="en-US" dirty="0"/>
              <a:t>Other thicknesses</a:t>
            </a:r>
          </a:p>
          <a:p>
            <a:pPr lvl="1"/>
            <a:r>
              <a:rPr lang="en-US" dirty="0"/>
              <a:t>Aluminum or copper core</a:t>
            </a:r>
          </a:p>
          <a:p>
            <a:r>
              <a:rPr lang="en-US" dirty="0"/>
              <a:t>We’re making add-ons available individually and at-cost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0BA7B6-FAC7-4341-38FF-0FE6930D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group order costs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0AF89-1071-46A8-2DA5-A571C156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45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4288EB-CF90-D1A2-1E97-1740EFFC15E4}"/>
              </a:ext>
            </a:extLst>
          </p:cNvPr>
          <p:cNvSpPr/>
          <p:nvPr/>
        </p:nvSpPr>
        <p:spPr>
          <a:xfrm>
            <a:off x="4572001" y="2856359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Calculated Price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DEF3D2-01F8-746A-C8E5-4C44ED979A09}"/>
              </a:ext>
            </a:extLst>
          </p:cNvPr>
          <p:cNvSpPr/>
          <p:nvPr/>
        </p:nvSpPr>
        <p:spPr>
          <a:xfrm>
            <a:off x="4572000" y="3674598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Subtract $2.00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3CAA6AE-B74A-C646-70F7-B794EBD78979}"/>
              </a:ext>
            </a:extLst>
          </p:cNvPr>
          <p:cNvSpPr/>
          <p:nvPr/>
        </p:nvSpPr>
        <p:spPr>
          <a:xfrm>
            <a:off x="6865392" y="2856359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Shipping Estimate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49FA2B-B54E-8B71-3775-16FF0D96A541}"/>
              </a:ext>
            </a:extLst>
          </p:cNvPr>
          <p:cNvSpPr/>
          <p:nvPr/>
        </p:nvSpPr>
        <p:spPr>
          <a:xfrm>
            <a:off x="6865392" y="3674598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Subtract $29.16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320171-FAA5-545C-BA7A-9F9AC0394EB0}"/>
              </a:ext>
            </a:extLst>
          </p:cNvPr>
          <p:cNvCxnSpPr>
            <a:stCxn id="6" idx="1"/>
            <a:endCxn id="7" idx="0"/>
          </p:cNvCxnSpPr>
          <p:nvPr/>
        </p:nvCxnSpPr>
        <p:spPr>
          <a:xfrm flipH="1">
            <a:off x="5347011" y="2279549"/>
            <a:ext cx="371684" cy="5768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8457CD-84F4-AF6B-68F7-702FD4C04A6F}"/>
              </a:ext>
            </a:extLst>
          </p:cNvPr>
          <p:cNvCxnSpPr>
            <a:cxnSpLocks/>
            <a:stCxn id="6" idx="3"/>
            <a:endCxn id="9" idx="0"/>
          </p:cNvCxnSpPr>
          <p:nvPr/>
        </p:nvCxnSpPr>
        <p:spPr>
          <a:xfrm>
            <a:off x="7268714" y="2279549"/>
            <a:ext cx="371688" cy="5768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3AD726-5E56-853D-4E95-EA023531A4C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5347010" y="3339217"/>
            <a:ext cx="1" cy="335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8A912B-8138-5CB7-A77A-A489A6DC903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7640402" y="3339217"/>
            <a:ext cx="0" cy="335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68F358-1015-B505-257B-EC183A99349A}"/>
              </a:ext>
            </a:extLst>
          </p:cNvPr>
          <p:cNvSpPr/>
          <p:nvPr/>
        </p:nvSpPr>
        <p:spPr>
          <a:xfrm>
            <a:off x="5718696" y="1219881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Upload zip file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77447C-A2B7-DC7B-CECF-BC0387E5A76E}"/>
              </a:ext>
            </a:extLst>
          </p:cNvPr>
          <p:cNvSpPr/>
          <p:nvPr/>
        </p:nvSpPr>
        <p:spPr>
          <a:xfrm>
            <a:off x="5718695" y="2038120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Select options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B142E1-63BD-195D-7856-1B9236CD3C4E}"/>
              </a:ext>
            </a:extLst>
          </p:cNvPr>
          <p:cNvSpPr/>
          <p:nvPr/>
        </p:nvSpPr>
        <p:spPr>
          <a:xfrm>
            <a:off x="5718695" y="5172574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Venmo Resistor this amount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EDC90F-73F4-F281-7129-1F2BD29BE7C4}"/>
              </a:ext>
            </a:extLst>
          </p:cNvPr>
          <p:cNvSpPr/>
          <p:nvPr/>
        </p:nvSpPr>
        <p:spPr>
          <a:xfrm>
            <a:off x="6088543" y="4423586"/>
            <a:ext cx="810321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Add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CC8CFA-30DB-9D92-0A15-667E454CE375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6493705" y="1702739"/>
            <a:ext cx="1" cy="3353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5F32D1-A854-E047-EF8F-5544148058A2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6493704" y="4906444"/>
            <a:ext cx="1" cy="266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E8351C0-DB6B-4210-4D4B-14E7CF3E784E}"/>
              </a:ext>
            </a:extLst>
          </p:cNvPr>
          <p:cNvCxnSpPr>
            <a:cxnSpLocks/>
            <a:stCxn id="8" idx="2"/>
            <a:endCxn id="12" idx="1"/>
          </p:cNvCxnSpPr>
          <p:nvPr/>
        </p:nvCxnSpPr>
        <p:spPr>
          <a:xfrm>
            <a:off x="5347010" y="4157456"/>
            <a:ext cx="741533" cy="5075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B53D6D1-8F66-B6C7-5EF7-E3C2E25F4EB1}"/>
              </a:ext>
            </a:extLst>
          </p:cNvPr>
          <p:cNvCxnSpPr>
            <a:cxnSpLocks/>
            <a:stCxn id="10" idx="2"/>
            <a:endCxn id="12" idx="3"/>
          </p:cNvCxnSpPr>
          <p:nvPr/>
        </p:nvCxnSpPr>
        <p:spPr>
          <a:xfrm flipH="1">
            <a:off x="6898864" y="4157456"/>
            <a:ext cx="741538" cy="5075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0EE0279-C94C-DC5B-9453-AA7503A376B7}"/>
              </a:ext>
            </a:extLst>
          </p:cNvPr>
          <p:cNvSpPr/>
          <p:nvPr/>
        </p:nvSpPr>
        <p:spPr>
          <a:xfrm>
            <a:off x="5718695" y="5921562"/>
            <a:ext cx="1550019" cy="4828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sz="1400" dirty="0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Resistor pays </a:t>
            </a:r>
            <a:r>
              <a:rPr lang="en-US" sz="1400" dirty="0" err="1">
                <a:latin typeface="Proxima Nova" panose="02000506030000020004" pitchFamily="2" charset="0"/>
                <a:ea typeface="Helvetica Light" charset="0"/>
                <a:cs typeface="Helvetica Light" charset="0"/>
              </a:rPr>
              <a:t>JLCPCB</a:t>
            </a:r>
            <a:endParaRPr lang="en-US" sz="14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B7C9E2E-D92B-EF4A-23E2-D5EA342F835D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6493705" y="5655432"/>
            <a:ext cx="0" cy="26613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495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D72F7A-F2B1-60A1-1EEC-B4669DA56C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014439" cy="5765782"/>
          </a:xfrm>
        </p:spPr>
        <p:txBody>
          <a:bodyPr/>
          <a:lstStyle/>
          <a:p>
            <a:r>
              <a:rPr lang="en-US" dirty="0"/>
              <a:t>Suppose I want</a:t>
            </a:r>
          </a:p>
          <a:p>
            <a:pPr lvl="1"/>
            <a:r>
              <a:rPr lang="en-US" dirty="0"/>
              <a:t>30x qty</a:t>
            </a:r>
          </a:p>
          <a:p>
            <a:pPr lvl="1"/>
            <a:r>
              <a:rPr lang="en-US" dirty="0"/>
              <a:t>Black mask</a:t>
            </a:r>
          </a:p>
          <a:p>
            <a:pPr lvl="1"/>
            <a:r>
              <a:rPr lang="en-US" dirty="0"/>
              <a:t>Gold finish</a:t>
            </a:r>
          </a:p>
          <a:p>
            <a:r>
              <a:rPr lang="en-US" dirty="0"/>
              <a:t>Boards: </a:t>
            </a:r>
            <a:br>
              <a:rPr lang="en-US" dirty="0"/>
            </a:br>
            <a:r>
              <a:rPr lang="en-US" dirty="0"/>
              <a:t>$51.20 – $2.00 = $49.20</a:t>
            </a:r>
          </a:p>
          <a:p>
            <a:r>
              <a:rPr lang="en-US" dirty="0"/>
              <a:t>Excess shipping: </a:t>
            </a:r>
            <a:br>
              <a:rPr lang="en-US" dirty="0"/>
            </a:br>
            <a:r>
              <a:rPr lang="en-US" dirty="0"/>
              <a:t>$30.77 – $29.16 = $1.61</a:t>
            </a:r>
          </a:p>
          <a:p>
            <a:r>
              <a:rPr lang="en-US" dirty="0"/>
              <a:t>I would Venmo Resistor</a:t>
            </a:r>
            <a:br>
              <a:rPr lang="en-US" dirty="0"/>
            </a:br>
            <a:r>
              <a:rPr lang="en-US" dirty="0"/>
              <a:t>$49.20 + $1.61 = </a:t>
            </a:r>
            <a:r>
              <a:rPr lang="en-US" u="sng" dirty="0"/>
              <a:t>$50.81</a:t>
            </a:r>
            <a:br>
              <a:rPr lang="en-US" u="sng" dirty="0"/>
            </a:br>
            <a:r>
              <a:rPr lang="en-US" i="1" dirty="0"/>
              <a:t>on top of the ticket price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0BA7B6-FAC7-4341-38FF-0FE6930D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add-ons: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0AF89-1071-46A8-2DA5-A571C156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C69492-4FD8-F46F-C9D7-50ABD1E76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169" y="1109024"/>
            <a:ext cx="3486727" cy="5195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97F97F-9AC0-86C4-D4EC-85D34B40EB2D}"/>
              </a:ext>
            </a:extLst>
          </p:cNvPr>
          <p:cNvSpPr txBox="1"/>
          <p:nvPr/>
        </p:nvSpPr>
        <p:spPr>
          <a:xfrm>
            <a:off x="2279962" y="6522398"/>
            <a:ext cx="47750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Note: the numbers you get will differ based on size of board</a:t>
            </a:r>
          </a:p>
        </p:txBody>
      </p:sp>
    </p:spTree>
    <p:extLst>
      <p:ext uri="{BB962C8B-B14F-4D97-AF65-F5344CB8AC3E}">
        <p14:creationId xmlns:p14="http://schemas.microsoft.com/office/powerpoint/2010/main" val="14222764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D72F7A-F2B1-60A1-1EEC-B4669DA56C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23861"/>
            <a:ext cx="4460488" cy="5765782"/>
          </a:xfrm>
        </p:spPr>
        <p:txBody>
          <a:bodyPr/>
          <a:lstStyle/>
          <a:p>
            <a:r>
              <a:rPr lang="en-US" dirty="0"/>
              <a:t>Suppose I want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100x qty</a:t>
            </a:r>
          </a:p>
          <a:p>
            <a:pPr lvl="1"/>
            <a:r>
              <a:rPr lang="en-US" dirty="0"/>
              <a:t>Lead-free silver finish</a:t>
            </a:r>
          </a:p>
          <a:p>
            <a:r>
              <a:rPr lang="en-US" dirty="0"/>
              <a:t>Boards: </a:t>
            </a:r>
            <a:br>
              <a:rPr lang="en-US" dirty="0"/>
            </a:br>
            <a:r>
              <a:rPr lang="en-US" dirty="0"/>
              <a:t>$50.40 – $2.00 = $48.40</a:t>
            </a:r>
          </a:p>
          <a:p>
            <a:r>
              <a:rPr lang="en-US" dirty="0"/>
              <a:t>Excess </a:t>
            </a:r>
            <a:r>
              <a:rPr lang="en-US" dirty="0">
                <a:highlight>
                  <a:srgbClr val="FFFF00"/>
                </a:highlight>
              </a:rPr>
              <a:t>shipping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/>
              <a:t>$93.47 – $29.16 = </a:t>
            </a:r>
            <a:r>
              <a:rPr lang="en-US" dirty="0">
                <a:highlight>
                  <a:srgbClr val="FFFF00"/>
                </a:highlight>
              </a:rPr>
              <a:t>$64.31</a:t>
            </a:r>
          </a:p>
          <a:p>
            <a:r>
              <a:rPr lang="en-US" dirty="0"/>
              <a:t>I would Venmo Resistor</a:t>
            </a:r>
            <a:br>
              <a:rPr lang="en-US" dirty="0"/>
            </a:br>
            <a:r>
              <a:rPr lang="en-US" dirty="0"/>
              <a:t>$48.40 + $64.31 = </a:t>
            </a:r>
            <a:r>
              <a:rPr lang="en-US" u="sng" dirty="0"/>
              <a:t>$112.71</a:t>
            </a:r>
          </a:p>
          <a:p>
            <a:r>
              <a:rPr lang="en-US" dirty="0"/>
              <a:t>Because 100x is significantly heavier than 5x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0BA7B6-FAC7-4341-38FF-0FE6930D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add-ons: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0AF89-1071-46A8-2DA5-A571C156B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632A6E-DA17-814A-C3CC-A00856974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752" y="736652"/>
            <a:ext cx="3313144" cy="56677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1A44E4-A3A2-74C5-8B54-FA6BE67DA358}"/>
              </a:ext>
            </a:extLst>
          </p:cNvPr>
          <p:cNvSpPr txBox="1"/>
          <p:nvPr/>
        </p:nvSpPr>
        <p:spPr>
          <a:xfrm>
            <a:off x="2279962" y="6522398"/>
            <a:ext cx="477502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400" dirty="0">
                <a:latin typeface="Proxima Nova" panose="02000506030000020004" pitchFamily="2" charset="0"/>
                <a:ea typeface="Avenir Next" charset="0"/>
                <a:cs typeface="Times New Roman" panose="02020603050405020304" pitchFamily="18" charset="0"/>
              </a:rPr>
              <a:t>Note: the numbers you get will differ based on size of board</a:t>
            </a:r>
          </a:p>
        </p:txBody>
      </p:sp>
    </p:spTree>
    <p:extLst>
      <p:ext uri="{BB962C8B-B14F-4D97-AF65-F5344CB8AC3E}">
        <p14:creationId xmlns:p14="http://schemas.microsoft.com/office/powerpoint/2010/main" val="3420324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9DB5F-8CE4-5231-326B-D436F0FA12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DB8B7F-B855-4937-66CA-544711F3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import program (bitmap2component)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37BDC-2599-5F3A-2779-7B1BB4B5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48</a:t>
            </a:fld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740D8E04-CE21-74C3-D0D9-A1CD09B5C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6" y="1235060"/>
            <a:ext cx="8549640" cy="541552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A5006E-35B7-B7AA-14FC-61F8DC53698D}"/>
              </a:ext>
            </a:extLst>
          </p:cNvPr>
          <p:cNvSpPr/>
          <p:nvPr/>
        </p:nvSpPr>
        <p:spPr>
          <a:xfrm>
            <a:off x="2620663" y="4376058"/>
            <a:ext cx="3375187" cy="522514"/>
          </a:xfrm>
          <a:prstGeom prst="roundRect">
            <a:avLst>
              <a:gd name="adj" fmla="val 35715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endParaRPr lang="en-US" sz="2000" dirty="0">
              <a:latin typeface="Proxima Nova" panose="02000506030000020004" pitchFamily="2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4608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9DB5F-8CE4-5231-326B-D436F0FA12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DB8B7F-B855-4937-66CA-544711F3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Raster import program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37BDC-2599-5F3A-2779-7B1BB4B5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E482F-FCB4-614E-8004-33C88C9952E0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74608EF9-D14E-0C95-4B3F-5B7D78AA6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6310"/>
            <a:ext cx="7772400" cy="464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60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0" rIns="0" rtlCol="0" anchor="ctr"/>
      <a:lstStyle>
        <a:defPPr algn="ctr">
          <a:defRPr sz="2000" dirty="0" smtClean="0">
            <a:latin typeface="Proxima Nova" panose="02000506030000020004" pitchFamily="2" charset="0"/>
            <a:ea typeface="Helvetica Light" charset="0"/>
            <a:cs typeface="Helvetica Light" charset="0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 w="19050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600" dirty="0" smtClean="0">
            <a:latin typeface="Proxima Nova" panose="02000506030000020004" pitchFamily="2" charset="0"/>
            <a:ea typeface="Avenir Next" charset="0"/>
            <a:cs typeface="Times New Roman" panose="02020603050405020304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155524</TotalTime>
  <Words>1212</Words>
  <Application>Microsoft Macintosh PowerPoint</Application>
  <PresentationFormat>On-screen Show (4:3)</PresentationFormat>
  <Paragraphs>296</Paragraphs>
  <Slides>49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Proxima Nova</vt:lpstr>
      <vt:lpstr>Arial</vt:lpstr>
      <vt:lpstr>Calibri</vt:lpstr>
      <vt:lpstr>Helvetica</vt:lpstr>
      <vt:lpstr>Helvetica Light</vt:lpstr>
      <vt:lpstr>Helvetica Neue</vt:lpstr>
      <vt:lpstr>Times New Roman</vt:lpstr>
      <vt:lpstr>Office Theme</vt:lpstr>
      <vt:lpstr>PowerPoint Presentation</vt:lpstr>
      <vt:lpstr>Objectives</vt:lpstr>
      <vt:lpstr>Workshop outline</vt:lpstr>
      <vt:lpstr>Provided assets</vt:lpstr>
      <vt:lpstr>Obtaining the repo</vt:lpstr>
      <vt:lpstr>How asynchronous sessions will work</vt:lpstr>
      <vt:lpstr>Asynchronous 1</vt:lpstr>
      <vt:lpstr>PowerPoint Presentation</vt:lpstr>
      <vt:lpstr>Computer Graphics</vt:lpstr>
      <vt:lpstr>Computer Graphics: Vector vs. Raster</vt:lpstr>
      <vt:lpstr>Computer Graphics: Vector vs. Raster</vt:lpstr>
      <vt:lpstr>Graphics for PCB hardware</vt:lpstr>
      <vt:lpstr>Converting: vector ↔ raster</vt:lpstr>
      <vt:lpstr>KiCAD-native graphics imports</vt:lpstr>
      <vt:lpstr>What is a PCB</vt:lpstr>
      <vt:lpstr>Stackup</vt:lpstr>
      <vt:lpstr>Solder mask colors</vt:lpstr>
      <vt:lpstr>Copper finish colors</vt:lpstr>
      <vt:lpstr>Layout design</vt:lpstr>
      <vt:lpstr>Old fashioned style</vt:lpstr>
      <vt:lpstr>KiCAD</vt:lpstr>
      <vt:lpstr>Vector import dialog</vt:lpstr>
      <vt:lpstr>Editing vector graphics</vt:lpstr>
      <vt:lpstr>Inkscape</vt:lpstr>
      <vt:lpstr>Vocab</vt:lpstr>
      <vt:lpstr>Boolean operations</vt:lpstr>
      <vt:lpstr>Boolean operations</vt:lpstr>
      <vt:lpstr>Inset/outset operations</vt:lpstr>
      <vt:lpstr>Scale operations</vt:lpstr>
      <vt:lpstr>Layers in SVG</vt:lpstr>
      <vt:lpstr>SVG Layers for PCB design</vt:lpstr>
      <vt:lpstr>Multi-layer graphics</vt:lpstr>
      <vt:lpstr>Workflow</vt:lpstr>
      <vt:lpstr>Conversion step</vt:lpstr>
      <vt:lpstr>Uploading a PCB for fabrication</vt:lpstr>
      <vt:lpstr>Workflow</vt:lpstr>
      <vt:lpstr>Plotting gerbers</vt:lpstr>
      <vt:lpstr>Plotting gerbers</vt:lpstr>
      <vt:lpstr>Compressing to zip archive</vt:lpstr>
      <vt:lpstr>Uploading to JLCPCB</vt:lpstr>
      <vt:lpstr>Inspect upload</vt:lpstr>
      <vt:lpstr>Configuring the physical properties</vt:lpstr>
      <vt:lpstr>Properties you can change</vt:lpstr>
      <vt:lpstr>Offloads</vt:lpstr>
      <vt:lpstr>Our group order costs</vt:lpstr>
      <vt:lpstr>Pricing add-ons: example 1</vt:lpstr>
      <vt:lpstr>Pricing add-ons: example 2</vt:lpstr>
      <vt:lpstr>Raster import program (bitmap2component)</vt:lpstr>
      <vt:lpstr>Raster import program</vt:lpstr>
    </vt:vector>
  </TitlesOfParts>
  <Manager/>
  <Company>Princeton University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Mitchell Nahmias</dc:creator>
  <cp:keywords/>
  <dc:description/>
  <cp:lastModifiedBy>Alexander Tait</cp:lastModifiedBy>
  <cp:revision>3443</cp:revision>
  <cp:lastPrinted>2022-11-25T15:12:09Z</cp:lastPrinted>
  <dcterms:created xsi:type="dcterms:W3CDTF">2014-06-11T04:42:51Z</dcterms:created>
  <dcterms:modified xsi:type="dcterms:W3CDTF">2026-05-02T17:20:57Z</dcterms:modified>
  <cp:category/>
</cp:coreProperties>
</file>