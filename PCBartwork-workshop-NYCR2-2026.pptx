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2" r:id="rId1"/>
  </p:sldMasterIdLst>
  <p:notesMasterIdLst>
    <p:notesMasterId r:id="rId68"/>
  </p:notesMasterIdLst>
  <p:handoutMasterIdLst>
    <p:handoutMasterId r:id="rId69"/>
  </p:handoutMasterIdLst>
  <p:sldIdLst>
    <p:sldId id="2697" r:id="rId2"/>
    <p:sldId id="2924" r:id="rId3"/>
    <p:sldId id="2989" r:id="rId4"/>
    <p:sldId id="2925" r:id="rId5"/>
    <p:sldId id="2930" r:id="rId6"/>
    <p:sldId id="2927" r:id="rId7"/>
    <p:sldId id="2984" r:id="rId8"/>
    <p:sldId id="3003" r:id="rId9"/>
    <p:sldId id="2973" r:id="rId10"/>
    <p:sldId id="2931" r:id="rId11"/>
    <p:sldId id="2932" r:id="rId12"/>
    <p:sldId id="2933" r:id="rId13"/>
    <p:sldId id="2934" r:id="rId14"/>
    <p:sldId id="2982" r:id="rId15"/>
    <p:sldId id="2991" r:id="rId16"/>
    <p:sldId id="2996" r:id="rId17"/>
    <p:sldId id="3000" r:id="rId18"/>
    <p:sldId id="3002" r:id="rId19"/>
    <p:sldId id="3001" r:id="rId20"/>
    <p:sldId id="3004" r:id="rId21"/>
    <p:sldId id="2928" r:id="rId22"/>
    <p:sldId id="2942" r:id="rId23"/>
    <p:sldId id="2981" r:id="rId24"/>
    <p:sldId id="2976" r:id="rId25"/>
    <p:sldId id="2948" r:id="rId26"/>
    <p:sldId id="2949" r:id="rId27"/>
    <p:sldId id="2980" r:id="rId28"/>
    <p:sldId id="2967" r:id="rId29"/>
    <p:sldId id="2944" r:id="rId30"/>
    <p:sldId id="2946" r:id="rId31"/>
    <p:sldId id="3007" r:id="rId32"/>
    <p:sldId id="2997" r:id="rId33"/>
    <p:sldId id="2950" r:id="rId34"/>
    <p:sldId id="2999" r:id="rId35"/>
    <p:sldId id="3006" r:id="rId36"/>
    <p:sldId id="2983" r:id="rId37"/>
    <p:sldId id="2977" r:id="rId38"/>
    <p:sldId id="2939" r:id="rId39"/>
    <p:sldId id="2940" r:id="rId40"/>
    <p:sldId id="2978" r:id="rId41"/>
    <p:sldId id="788" r:id="rId42"/>
    <p:sldId id="2941" r:id="rId43"/>
    <p:sldId id="2993" r:id="rId44"/>
    <p:sldId id="2975" r:id="rId45"/>
    <p:sldId id="2954" r:id="rId46"/>
    <p:sldId id="2986" r:id="rId47"/>
    <p:sldId id="2995" r:id="rId48"/>
    <p:sldId id="2971" r:id="rId49"/>
    <p:sldId id="2990" r:id="rId50"/>
    <p:sldId id="2987" r:id="rId51"/>
    <p:sldId id="2988" r:id="rId52"/>
    <p:sldId id="2994" r:id="rId53"/>
    <p:sldId id="2998" r:id="rId54"/>
    <p:sldId id="2985" r:id="rId55"/>
    <p:sldId id="2968" r:id="rId56"/>
    <p:sldId id="2965" r:id="rId57"/>
    <p:sldId id="2966" r:id="rId58"/>
    <p:sldId id="2963" r:id="rId59"/>
    <p:sldId id="2962" r:id="rId60"/>
    <p:sldId id="2964" r:id="rId61"/>
    <p:sldId id="2955" r:id="rId62"/>
    <p:sldId id="2956" r:id="rId63"/>
    <p:sldId id="2961" r:id="rId64"/>
    <p:sldId id="3008" r:id="rId65"/>
    <p:sldId id="3009" r:id="rId66"/>
    <p:sldId id="3005" r:id="rId67"/>
  </p:sldIdLst>
  <p:sldSz cx="9144000" cy="6858000" type="screen4x3"/>
  <p:notesSz cx="6858000" cy="9144000"/>
  <p:kinsoku lang="ja-JP" invalStChars="、。，．・：；？！゛゜ヽヾゝゞ々’”）〕］｝〉》」』】°‰′″℃￠％!%),.:;?]}｡｣､･ﾞﾟ-–" invalEndChars="‘“（〔［｛〈《「『【￥＄$([\{｢￡-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BA9FAE-7ADB-004B-A647-18847794FA4F}">
          <p14:sldIdLst>
            <p14:sldId id="2697"/>
          </p14:sldIdLst>
        </p14:section>
        <p14:section name="Intro" id="{BEDC5B86-C6D3-CB4A-854F-8D333F9617FC}">
          <p14:sldIdLst>
            <p14:sldId id="2924"/>
            <p14:sldId id="2989"/>
            <p14:sldId id="2925"/>
            <p14:sldId id="2930"/>
            <p14:sldId id="2927"/>
            <p14:sldId id="2984"/>
            <p14:sldId id="3003"/>
            <p14:sldId id="2973"/>
          </p14:sldIdLst>
        </p14:section>
        <p14:section name="Part I" id="{7FDCB1DE-8DCB-7946-A8CF-2A0F5915129C}">
          <p14:sldIdLst>
            <p14:sldId id="2931"/>
            <p14:sldId id="2932"/>
            <p14:sldId id="2933"/>
            <p14:sldId id="2934"/>
            <p14:sldId id="2982"/>
            <p14:sldId id="2991"/>
            <p14:sldId id="2996"/>
            <p14:sldId id="3000"/>
            <p14:sldId id="3002"/>
            <p14:sldId id="3001"/>
            <p14:sldId id="3004"/>
            <p14:sldId id="2928"/>
          </p14:sldIdLst>
        </p14:section>
        <p14:section name="Part II" id="{5E0C3E0D-CDD0-9A4C-88FD-04E086F3D776}">
          <p14:sldIdLst>
            <p14:sldId id="2942"/>
            <p14:sldId id="2981"/>
            <p14:sldId id="2976"/>
            <p14:sldId id="2948"/>
            <p14:sldId id="2949"/>
            <p14:sldId id="2980"/>
            <p14:sldId id="2967"/>
            <p14:sldId id="2944"/>
            <p14:sldId id="2946"/>
            <p14:sldId id="3007"/>
            <p14:sldId id="2997"/>
            <p14:sldId id="2950"/>
            <p14:sldId id="2999"/>
            <p14:sldId id="3006"/>
            <p14:sldId id="2983"/>
            <p14:sldId id="2977"/>
          </p14:sldIdLst>
        </p14:section>
        <p14:section name="Part III" id="{3C1636EB-5AA9-6C42-9F20-A8EC1AC26930}">
          <p14:sldIdLst>
            <p14:sldId id="2939"/>
            <p14:sldId id="2940"/>
            <p14:sldId id="2978"/>
            <p14:sldId id="788"/>
            <p14:sldId id="2941"/>
            <p14:sldId id="2993"/>
            <p14:sldId id="2975"/>
            <p14:sldId id="2954"/>
            <p14:sldId id="2986"/>
            <p14:sldId id="2995"/>
            <p14:sldId id="2971"/>
            <p14:sldId id="2990"/>
            <p14:sldId id="2987"/>
            <p14:sldId id="2988"/>
            <p14:sldId id="2994"/>
            <p14:sldId id="2998"/>
            <p14:sldId id="2985"/>
          </p14:sldIdLst>
        </p14:section>
        <p14:section name="Part IV" id="{18306DB5-A0D0-3247-B5B5-8F3CEF079B9F}">
          <p14:sldIdLst>
            <p14:sldId id="2968"/>
            <p14:sldId id="2965"/>
            <p14:sldId id="2966"/>
            <p14:sldId id="2963"/>
            <p14:sldId id="2962"/>
            <p14:sldId id="2964"/>
            <p14:sldId id="2955"/>
            <p14:sldId id="2956"/>
            <p14:sldId id="2961"/>
            <p14:sldId id="3008"/>
            <p14:sldId id="3009"/>
            <p14:sldId id="3005"/>
          </p14:sldIdLst>
        </p14:section>
        <p14:section name="Reference" id="{4D527179-88C7-6F4C-AE00-C8F6E3EA395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A2A90"/>
    <a:srgbClr val="053DF5"/>
    <a:srgbClr val="EAE8E9"/>
    <a:srgbClr val="A90325"/>
    <a:srgbClr val="F36B41"/>
    <a:srgbClr val="E3F499"/>
    <a:srgbClr val="007F24"/>
    <a:srgbClr val="FF1F19"/>
    <a:srgbClr val="FFA337"/>
    <a:srgbClr val="FFC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16" autoAdjust="0"/>
    <p:restoredTop sz="91959" autoAdjust="0"/>
  </p:normalViewPr>
  <p:slideViewPr>
    <p:cSldViewPr snapToGrid="0" snapToObjects="1">
      <p:cViewPr>
        <p:scale>
          <a:sx n="98" d="100"/>
          <a:sy n="98" d="100"/>
        </p:scale>
        <p:origin x="112" y="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3616"/>
    </p:cViewPr>
  </p:sorterViewPr>
  <p:notesViewPr>
    <p:cSldViewPr snapToGrid="0" snapToObjects="1">
      <p:cViewPr varScale="1">
        <p:scale>
          <a:sx n="77" d="100"/>
          <a:sy n="77" d="100"/>
        </p:scale>
        <p:origin x="12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0CCBF-918B-D04F-AE8D-F1EC3B14308D}" type="datetimeFigureOut"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326DE-5435-DF4D-BE80-5F98BB6C0F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422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2A21D-612B-AC49-8ABB-0644096748EC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E58BE-F48E-9248-A79F-38A5AEAA52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787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handout PCBs. You will get it to this point by the end of the workshop</a:t>
            </a:r>
          </a:p>
          <a:p>
            <a:r>
              <a:rPr lang="en-US" dirty="0"/>
              <a:t>Lenape and </a:t>
            </a:r>
            <a:r>
              <a:rPr lang="en-US" dirty="0" err="1"/>
              <a:t>Haudenoshone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E58BE-F48E-9248-A79F-38A5AEAA520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71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E58BE-F48E-9248-A79F-38A5AEAA52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8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E58BE-F48E-9248-A79F-38A5AEAA52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18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ARE NOT DONE with design, move forward anyways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E58BE-F48E-9248-A79F-38A5AEAA5203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10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84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FD56D8-DBB7-5A15-5F41-3E9D1862BF67}"/>
              </a:ext>
            </a:extLst>
          </p:cNvPr>
          <p:cNvCxnSpPr>
            <a:cxnSpLocks/>
          </p:cNvCxnSpPr>
          <p:nvPr userDrawn="1"/>
        </p:nvCxnSpPr>
        <p:spPr>
          <a:xfrm>
            <a:off x="0" y="1371600"/>
            <a:ext cx="4572000" cy="0"/>
          </a:xfrm>
          <a:prstGeom prst="line">
            <a:avLst/>
          </a:prstGeom>
          <a:ln w="63500" cmpd="thickThin"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A9E3F46-D1D7-3D86-75B0-76E49685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D12F1D-2860-106F-04DC-C910101794F9}"/>
              </a:ext>
            </a:extLst>
          </p:cNvPr>
          <p:cNvCxnSpPr>
            <a:cxnSpLocks/>
          </p:cNvCxnSpPr>
          <p:nvPr userDrawn="1"/>
        </p:nvCxnSpPr>
        <p:spPr>
          <a:xfrm flipH="1">
            <a:off x="4572000" y="5486400"/>
            <a:ext cx="4572000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32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B585B-43A1-34D1-1ED8-0DB089C898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5765782"/>
          </a:xfrm>
          <a:prstGeom prst="rect">
            <a:avLst/>
          </a:prstGeom>
        </p:spPr>
        <p:txBody>
          <a:bodyPr lIns="457200" anchor="ctr">
            <a:normAutofit/>
          </a:bodyPr>
          <a:lstStyle>
            <a:lvl1pPr marL="301752" indent="-228600" hangingPunct="0">
              <a:spcBef>
                <a:spcPts val="120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94360" indent="-228600" hangingPunct="0">
              <a:defRPr sz="2000">
                <a:latin typeface="Proxima Nova" panose="02000506030000020004" pitchFamily="2" charset="0"/>
                <a:cs typeface="Proxima Nova" panose="02000506030000020004" pitchFamily="2" charset="0"/>
              </a:defRPr>
            </a:lvl2pPr>
            <a:lvl3pPr marL="914400" indent="-228600" hangingPunct="0">
              <a:defRPr sz="1600">
                <a:latin typeface="Proxima Nova" panose="02000506030000020004" pitchFamily="2" charset="0"/>
                <a:cs typeface="Proxima Nova" panose="02000506030000020004" pitchFamily="2" charset="0"/>
              </a:defRPr>
            </a:lvl3pPr>
            <a:lvl4pPr marL="1216152" hangingPunct="0">
              <a:defRPr sz="1600">
                <a:latin typeface="Proxima Nova" panose="02000506030000020004" pitchFamily="2" charset="0"/>
                <a:cs typeface="Proxima Nova" panose="02000506030000020004" pitchFamily="2" charset="0"/>
              </a:defRPr>
            </a:lvl4pPr>
            <a:lvl5pPr marL="18288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0A1B8F1D-52E2-87F3-FA4B-E867C8E9A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70502"/>
            <a:ext cx="7630689" cy="482858"/>
          </a:xfrm>
        </p:spPr>
        <p:txBody>
          <a:bodyPr rIns="137160">
            <a:noAutofit/>
          </a:bodyPr>
          <a:lstStyle>
            <a:lvl1pPr marL="182880" algn="l">
              <a:defRPr sz="3200" b="0" i="0" cap="none" baseline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D24D71C-B8B3-FA81-5486-9286BEFB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3896" y="6404420"/>
            <a:ext cx="725557" cy="365125"/>
          </a:xfrm>
        </p:spPr>
        <p:txBody>
          <a:bodyPr/>
          <a:lstStyle/>
          <a:p>
            <a:fld id="{A1CE482F-FCB4-614E-8004-33C88C9952E0}" type="slidenum"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E5D5E-B993-077A-BF49-D1411130921D}"/>
              </a:ext>
            </a:extLst>
          </p:cNvPr>
          <p:cNvSpPr txBox="1"/>
          <p:nvPr userDrawn="1"/>
        </p:nvSpPr>
        <p:spPr>
          <a:xfrm>
            <a:off x="114547" y="6554101"/>
            <a:ext cx="142859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taitphotonlab.com</a:t>
            </a:r>
            <a:endParaRPr lang="en-US" sz="14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9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F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6296295" y="418011"/>
            <a:ext cx="2812869" cy="41891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Helvetica"/>
              <a:cs typeface="Helvetica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979DB9D-D1E4-F645-9327-D33288D1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9660" y="6404420"/>
            <a:ext cx="725557" cy="365125"/>
          </a:xfrm>
        </p:spPr>
        <p:txBody>
          <a:bodyPr/>
          <a:lstStyle/>
          <a:p>
            <a:fld id="{A1CE482F-FCB4-614E-8004-33C88C9952E0}" type="slidenum">
              <a:t>‹#›</a:t>
            </a:fld>
            <a:endParaRPr lang="en-US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9CD4A73-3503-0BDF-C8F9-8BE21EF5A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70502"/>
            <a:ext cx="7630689" cy="482858"/>
          </a:xfrm>
        </p:spPr>
        <p:txBody>
          <a:bodyPr rIns="137160">
            <a:noAutofit/>
          </a:bodyPr>
          <a:lstStyle>
            <a:lvl1pPr marL="182880" algn="l">
              <a:defRPr sz="3200" b="0" i="0" cap="none" baseline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7B238-ABB0-32ED-4C7E-6E4B54BD0021}"/>
              </a:ext>
            </a:extLst>
          </p:cNvPr>
          <p:cNvSpPr txBox="1"/>
          <p:nvPr userDrawn="1"/>
        </p:nvSpPr>
        <p:spPr>
          <a:xfrm>
            <a:off x="114547" y="6554101"/>
            <a:ext cx="142859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taitphotonlab.com</a:t>
            </a:r>
            <a:endParaRPr lang="en-US" sz="14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04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Fig-Que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979DB9D-D1E4-F645-9327-D33288D1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9660" y="6404420"/>
            <a:ext cx="725557" cy="365125"/>
          </a:xfrm>
        </p:spPr>
        <p:txBody>
          <a:bodyPr/>
          <a:lstStyle/>
          <a:p>
            <a:fld id="{A1CE482F-FCB4-614E-8004-33C88C9952E0}" type="slidenum"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E3EB9-F193-AEAF-1A72-E84719B9B1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9743" y="1"/>
            <a:ext cx="1084218" cy="82445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EDEA860-C34C-A886-0EA6-3826136EED8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6201666"/>
            <a:ext cx="9144000" cy="542034"/>
          </a:xfrm>
        </p:spPr>
        <p:txBody>
          <a:bodyPr lIns="91440" tIns="45720" bIns="45720" anchor="b" anchorCtr="0">
            <a:normAutofit/>
          </a:bodyPr>
          <a:lstStyle>
            <a:lvl1pPr marL="0" indent="0">
              <a:buNone/>
              <a:defRPr sz="12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742950" indent="-285750">
              <a:buFont typeface="Arial" charset="0"/>
              <a:buChar char="•"/>
              <a:defRPr sz="1800" b="0" i="0">
                <a:latin typeface="Avenir Next Ultra Light" charset="0"/>
                <a:ea typeface="Avenir Next Ultra Light" charset="0"/>
                <a:cs typeface="Avenir Next Ultra Light" charset="0"/>
              </a:defRPr>
            </a:lvl2pPr>
            <a:lvl3pPr>
              <a:defRPr sz="1600" b="0" i="0">
                <a:latin typeface="Avenir Next Ultra Light" charset="0"/>
                <a:ea typeface="Avenir Next Ultra Light" charset="0"/>
                <a:cs typeface="Avenir Next Ultra Light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EF39847C-9890-A301-9982-C1D9F6C1F8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70502"/>
            <a:ext cx="8219660" cy="482858"/>
          </a:xfrm>
        </p:spPr>
        <p:txBody>
          <a:bodyPr rIns="137160">
            <a:noAutofit/>
          </a:bodyPr>
          <a:lstStyle>
            <a:lvl1pPr marL="182880" algn="l">
              <a:defRPr sz="3200" b="0" i="0" cap="none" baseline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552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3569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E653-5C63-8B44-9C7A-408063D6A5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76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06" r:id="rId2"/>
    <p:sldLayoutId id="2147483688" r:id="rId3"/>
    <p:sldLayoutId id="2147483712" r:id="rId4"/>
    <p:sldLayoutId id="2147483713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tait/PCB-artwork-worksho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icanvas.org/" TargetMode="External"/><Relationship Id="rId2" Type="http://schemas.openxmlformats.org/officeDocument/2006/relationships/hyperlink" Target="https://github.com/atait/PCB-artwork-workshop/tree/main/Example-Zoo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hyperlink" Target="https://kicanvas.org/?repo=https%3A%2F%2Fgithub.com%2Fatait%2FPCB-artwork-workshop%2Ftree%2Fmain%2FExample-Zoo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atait/PCB-artwork-workshop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google.com/presentation/d/1zV1L_Xw4yPro0tG-v6-CK8Sn02TVPhq5eudh-7Esbb4/edit?slide=id.p#slide=id.p" TargetMode="Externa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qr-code-generator.com/" TargetMode="Externa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iff"/><Relationship Id="rId2" Type="http://schemas.openxmlformats.org/officeDocument/2006/relationships/image" Target="../media/image43.tiff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microsoft.com/office/2007/relationships/hdphoto" Target="../media/hdphoto3.wdp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taitphotonlab.com/apps/svg2kicad.html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taitphotonlab.com/apps/svg2kicad.html" TargetMode="Externa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hyperlink" Target="http://taitphotonlab.com/apps/svg2kicad.html" TargetMode="External"/><Relationship Id="rId4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kogPh8-kZjdPBVyFecbTC-Yk5dQ5IPqLUJ6YryDgMXk/edit?gid=0#gid=0" TargetMode="Externa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A003D5-5F6C-A02B-6C34-3E1521C4B7C1}"/>
              </a:ext>
            </a:extLst>
          </p:cNvPr>
          <p:cNvSpPr/>
          <p:nvPr/>
        </p:nvSpPr>
        <p:spPr>
          <a:xfrm>
            <a:off x="389744" y="5782591"/>
            <a:ext cx="8435954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endParaRPr lang="en-US" sz="200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  <a:p>
            <a:pPr lvl="0">
              <a:spcBef>
                <a:spcPct val="20000"/>
              </a:spcBef>
            </a:pPr>
            <a:r>
              <a:rPr lang="en-US" sz="200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NYC Resistor, Oct 2026</a:t>
            </a:r>
            <a:endParaRPr lang="en-US" sz="200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979C7-2A22-EE71-1F0D-CAA4660BBA9C}"/>
              </a:ext>
            </a:extLst>
          </p:cNvPr>
          <p:cNvSpPr/>
          <p:nvPr/>
        </p:nvSpPr>
        <p:spPr>
          <a:xfrm>
            <a:off x="389744" y="342901"/>
            <a:ext cx="8435954" cy="14465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4000" dirty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PCB artwork: </a:t>
            </a:r>
          </a:p>
          <a:p>
            <a:pPr lvl="0">
              <a:spcBef>
                <a:spcPct val="20000"/>
              </a:spcBef>
            </a:pPr>
            <a:r>
              <a:rPr lang="en-US" sz="4000" dirty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Make a business card</a:t>
            </a:r>
            <a:endParaRPr lang="en-US" sz="280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018C5-7FF7-BE87-97F4-BAA5D45A987E}"/>
              </a:ext>
            </a:extLst>
          </p:cNvPr>
          <p:cNvSpPr/>
          <p:nvPr/>
        </p:nvSpPr>
        <p:spPr>
          <a:xfrm>
            <a:off x="389744" y="2038294"/>
            <a:ext cx="8435954" cy="9664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2800" dirty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Alex Tait</a:t>
            </a:r>
          </a:p>
          <a:p>
            <a:pPr lvl="0">
              <a:spcBef>
                <a:spcPct val="20000"/>
              </a:spcBef>
            </a:pPr>
            <a:r>
              <a:rPr lang="en-US" sz="2400" dirty="0" err="1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atait@ieee.org</a:t>
            </a:r>
            <a:r>
              <a:rPr lang="en-US" sz="2400" dirty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, taitphotonlab.com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0385903-4E5B-F25C-E208-756054B168AA}"/>
              </a:ext>
            </a:extLst>
          </p:cNvPr>
          <p:cNvSpPr/>
          <p:nvPr/>
        </p:nvSpPr>
        <p:spPr>
          <a:xfrm flipH="1" flipV="1">
            <a:off x="6961909" y="-4"/>
            <a:ext cx="2182090" cy="6857999"/>
          </a:xfrm>
          <a:prstGeom prst="rtTriangl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34B7814A-D971-C063-1966-B68248CFDB84}"/>
              </a:ext>
            </a:extLst>
          </p:cNvPr>
          <p:cNvSpPr/>
          <p:nvPr/>
        </p:nvSpPr>
        <p:spPr>
          <a:xfrm flipH="1">
            <a:off x="6645227" y="0"/>
            <a:ext cx="2498771" cy="6857998"/>
          </a:xfrm>
          <a:prstGeom prst="rtTriangl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BD617-1D86-8FEA-46E0-562FE5CF3034}"/>
              </a:ext>
            </a:extLst>
          </p:cNvPr>
          <p:cNvSpPr txBox="1"/>
          <p:nvPr/>
        </p:nvSpPr>
        <p:spPr>
          <a:xfrm>
            <a:off x="5393636" y="3309386"/>
            <a:ext cx="3624240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Welcome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1. Download 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Kicad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&amp; Inkscape</a:t>
            </a:r>
          </a:p>
          <a:p>
            <a:pPr algn="l"/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2. Get the course repo and slides:</a:t>
            </a:r>
          </a:p>
          <a:p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  <a:hlinkClick r:id="rId3"/>
              </a:rPr>
              <a:t>https://github.com/atait/PCB-artwork-workshop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&lt;-QR code</a:t>
            </a:r>
          </a:p>
          <a:p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3. Look at the example PCBs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821AC4-908A-5B98-AA30-DAE33042E5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352" b="15352"/>
          <a:stretch>
            <a:fillRect/>
          </a:stretch>
        </p:blipFill>
        <p:spPr>
          <a:xfrm rot="10800000">
            <a:off x="389745" y="3139546"/>
            <a:ext cx="4826049" cy="250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7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47C2A-057E-D60B-877A-FDEECC835D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5247861" cy="5765782"/>
          </a:xfrm>
        </p:spPr>
        <p:txBody>
          <a:bodyPr>
            <a:normAutofit/>
          </a:bodyPr>
          <a:lstStyle/>
          <a:p>
            <a:r>
              <a:rPr lang="en-US" sz="2000" dirty="0"/>
              <a:t>Download </a:t>
            </a:r>
            <a:r>
              <a:rPr lang="en-US" sz="2000" dirty="0" err="1"/>
              <a:t>KiCAD</a:t>
            </a:r>
            <a:r>
              <a:rPr lang="en-US" sz="2000" dirty="0"/>
              <a:t> and Inkscape</a:t>
            </a:r>
          </a:p>
          <a:p>
            <a:r>
              <a:rPr lang="en-US" sz="2000" dirty="0"/>
              <a:t>Single-layer import </a:t>
            </a:r>
          </a:p>
          <a:p>
            <a:r>
              <a:rPr lang="en-US" sz="2000" dirty="0"/>
              <a:t>Multi-layer footprints (svg2mod)</a:t>
            </a:r>
          </a:p>
          <a:p>
            <a:r>
              <a:rPr lang="en-US" sz="2000" dirty="0"/>
              <a:t>Design your own graphics</a:t>
            </a:r>
          </a:p>
          <a:p>
            <a:r>
              <a:rPr lang="en-US" sz="2000" dirty="0"/>
              <a:t>Submit designs to fabrication house</a:t>
            </a:r>
          </a:p>
          <a:p>
            <a:r>
              <a:rPr lang="en-US" sz="2000" dirty="0"/>
              <a:t>Receive PCBs before the final camp show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A1978-8833-DB01-44FB-8A372601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05347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0B9EB3-1B59-05A9-2132-661FE49A3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28553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Have lived in NJ, Colorado, Minneapolis, Ontario, Brooklyn</a:t>
            </a:r>
          </a:p>
          <a:p>
            <a:r>
              <a:rPr lang="en-US" dirty="0"/>
              <a:t>Taught for 4 years in Canada</a:t>
            </a:r>
          </a:p>
          <a:p>
            <a:r>
              <a:rPr lang="en-US" dirty="0"/>
              <a:t>Past Research</a:t>
            </a:r>
          </a:p>
          <a:p>
            <a:pPr lvl="1"/>
            <a:r>
              <a:rPr lang="en-US" dirty="0"/>
              <a:t>Neuromorphic photonics</a:t>
            </a:r>
          </a:p>
          <a:p>
            <a:pPr lvl="1"/>
            <a:r>
              <a:rPr lang="en-US" dirty="0"/>
              <a:t>Cryogenic photonics</a:t>
            </a:r>
          </a:p>
          <a:p>
            <a:r>
              <a:rPr lang="en-US" dirty="0"/>
              <a:t>Current research direction: open-source supply chains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671475-4044-FF36-DC4E-BB030E66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6E270-DB49-2224-7938-F280E585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7C0CD-5F2F-648E-818A-2657AE3FF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365" y="687891"/>
            <a:ext cx="3988470" cy="2991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B1DF72-977F-5071-FE0A-9255D9222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742" y="3864773"/>
            <a:ext cx="4387317" cy="2722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35B85C-7F73-AEB1-43C1-C8031F864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89" y="3778818"/>
            <a:ext cx="3299555" cy="28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C7C534-ADD0-51F5-AAD4-525F39E1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Graphics: Vector vs. Raster</a:t>
            </a:r>
          </a:p>
        </p:txBody>
      </p:sp>
      <p:pic>
        <p:nvPicPr>
          <p:cNvPr id="7" name="Picture 6" descr="A black and orange letters&#10;&#10;Description automatically generated">
            <a:extLst>
              <a:ext uri="{FF2B5EF4-FFF2-40B4-BE49-F238E27FC236}">
                <a16:creationId xmlns:a16="http://schemas.microsoft.com/office/drawing/2014/main" id="{957817E7-BD35-4CAA-CF3E-C57019686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511300"/>
            <a:ext cx="5334000" cy="383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C5D649-B675-681C-2CA3-878F2D79C1B7}"/>
              </a:ext>
            </a:extLst>
          </p:cNvPr>
          <p:cNvSpPr txBox="1"/>
          <p:nvPr/>
        </p:nvSpPr>
        <p:spPr>
          <a:xfrm>
            <a:off x="2163556" y="5346700"/>
            <a:ext cx="205184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And anchor 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7AB82-6CFF-3C5E-18E6-05C34FD0EB60}"/>
              </a:ext>
            </a:extLst>
          </p:cNvPr>
          <p:cNvSpPr txBox="1"/>
          <p:nvPr/>
        </p:nvSpPr>
        <p:spPr>
          <a:xfrm>
            <a:off x="5312228" y="5410198"/>
            <a:ext cx="158844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a.k.a., a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E87BC-B219-36EB-0707-629837B41110}"/>
              </a:ext>
            </a:extLst>
          </p:cNvPr>
          <p:cNvSpPr txBox="1"/>
          <p:nvPr/>
        </p:nvSpPr>
        <p:spPr>
          <a:xfrm>
            <a:off x="4987169" y="5760807"/>
            <a:ext cx="297966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png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(portable network graphics)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11831-E460-241E-F63A-F8C1C7666E6D}"/>
              </a:ext>
            </a:extLst>
          </p:cNvPr>
          <p:cNvSpPr txBox="1"/>
          <p:nvPr/>
        </p:nvSpPr>
        <p:spPr>
          <a:xfrm>
            <a:off x="5556776" y="6247617"/>
            <a:ext cx="4552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.jpeg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83AA7-AA15-59E0-E41D-4AB802CF9F85}"/>
              </a:ext>
            </a:extLst>
          </p:cNvPr>
          <p:cNvSpPr txBox="1"/>
          <p:nvPr/>
        </p:nvSpPr>
        <p:spPr>
          <a:xfrm>
            <a:off x="6437408" y="6334417"/>
            <a:ext cx="4632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.bmp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8D28D9-0DC8-DA58-953E-0EFD77E6764E}"/>
              </a:ext>
            </a:extLst>
          </p:cNvPr>
          <p:cNvSpPr txBox="1"/>
          <p:nvPr/>
        </p:nvSpPr>
        <p:spPr>
          <a:xfrm>
            <a:off x="1905000" y="5767067"/>
            <a:ext cx="27440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svg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(scalable vector graphics)</a:t>
            </a:r>
          </a:p>
        </p:txBody>
      </p:sp>
    </p:spTree>
    <p:extLst>
      <p:ext uri="{BB962C8B-B14F-4D97-AF65-F5344CB8AC3E}">
        <p14:creationId xmlns:p14="http://schemas.microsoft.com/office/powerpoint/2010/main" val="159467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11C40-B7EE-3648-A66B-A24750F798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424258" cy="5765782"/>
          </a:xfrm>
        </p:spPr>
        <p:txBody>
          <a:bodyPr/>
          <a:lstStyle/>
          <a:p>
            <a:r>
              <a:rPr lang="en-US" dirty="0"/>
              <a:t>Most things can be visualized as vector </a:t>
            </a:r>
            <a:r>
              <a:rPr lang="en-US" i="1" dirty="0"/>
              <a:t>or</a:t>
            </a:r>
            <a:r>
              <a:rPr lang="en-US" dirty="0"/>
              <a:t> raster</a:t>
            </a:r>
          </a:p>
          <a:p>
            <a:r>
              <a:rPr lang="en-US" dirty="0"/>
              <a:t>So which way is better?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C7C534-ADD0-51F5-AAD4-525F39E1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Graphics: Vector vs. Raster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0D3B93-EB20-35E9-3C59-2472C5633D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20" r="13305" b="6551"/>
          <a:stretch/>
        </p:blipFill>
        <p:spPr>
          <a:xfrm>
            <a:off x="4424258" y="690627"/>
            <a:ext cx="4453015" cy="5830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5A37EB-6BDC-47D6-C964-22FA6AFCE277}"/>
              </a:ext>
            </a:extLst>
          </p:cNvPr>
          <p:cNvSpPr txBox="1"/>
          <p:nvPr/>
        </p:nvSpPr>
        <p:spPr>
          <a:xfrm>
            <a:off x="4424258" y="6611779"/>
            <a:ext cx="258134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Credit: Clemson Intro to GIS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567533-C47A-D48F-1121-C0C0B416EB46}"/>
              </a:ext>
            </a:extLst>
          </p:cNvPr>
          <p:cNvSpPr/>
          <p:nvPr/>
        </p:nvSpPr>
        <p:spPr>
          <a:xfrm>
            <a:off x="5910943" y="823861"/>
            <a:ext cx="1502228" cy="569693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86BA3-D74F-ABF3-E20F-E2E32D566CA3}"/>
              </a:ext>
            </a:extLst>
          </p:cNvPr>
          <p:cNvSpPr txBox="1"/>
          <p:nvPr/>
        </p:nvSpPr>
        <p:spPr>
          <a:xfrm>
            <a:off x="6391086" y="1970314"/>
            <a:ext cx="54194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81D5F-A953-926E-5012-47571F6DD922}"/>
              </a:ext>
            </a:extLst>
          </p:cNvPr>
          <p:cNvSpPr txBox="1"/>
          <p:nvPr/>
        </p:nvSpPr>
        <p:spPr>
          <a:xfrm>
            <a:off x="6431225" y="2941051"/>
            <a:ext cx="4616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149F-0D43-7C8F-E492-50B6C811CFC8}"/>
              </a:ext>
            </a:extLst>
          </p:cNvPr>
          <p:cNvSpPr txBox="1"/>
          <p:nvPr/>
        </p:nvSpPr>
        <p:spPr>
          <a:xfrm>
            <a:off x="6462419" y="3911788"/>
            <a:ext cx="39927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1738B-6DE0-DCFA-4FEB-E189C729F08A}"/>
              </a:ext>
            </a:extLst>
          </p:cNvPr>
          <p:cNvSpPr txBox="1"/>
          <p:nvPr/>
        </p:nvSpPr>
        <p:spPr>
          <a:xfrm>
            <a:off x="6285352" y="4882525"/>
            <a:ext cx="75341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Network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0BD85A-D693-EC53-1D27-88C46B31316F}"/>
              </a:ext>
            </a:extLst>
          </p:cNvPr>
          <p:cNvSpPr txBox="1"/>
          <p:nvPr/>
        </p:nvSpPr>
        <p:spPr>
          <a:xfrm>
            <a:off x="6325074" y="5853262"/>
            <a:ext cx="67396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Surface</a:t>
            </a:r>
          </a:p>
        </p:txBody>
      </p:sp>
    </p:spTree>
    <p:extLst>
      <p:ext uri="{BB962C8B-B14F-4D97-AF65-F5344CB8AC3E}">
        <p14:creationId xmlns:p14="http://schemas.microsoft.com/office/powerpoint/2010/main" val="3100320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C6D628-6C73-6403-AE37-F0D54C9E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 format for PCB hardware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44DA7-9BCC-9377-3CDD-3B3A935F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82EE8-458F-68A6-6B09-050F4011CB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20" t="62038" r="36916" b="22258"/>
          <a:stretch/>
        </p:blipFill>
        <p:spPr>
          <a:xfrm>
            <a:off x="1691943" y="5424704"/>
            <a:ext cx="1497571" cy="9797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70FF83-7100-D314-FC48-640C940CDF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861" t="62038" r="13175" b="22258"/>
          <a:stretch/>
        </p:blipFill>
        <p:spPr>
          <a:xfrm>
            <a:off x="5360429" y="5424704"/>
            <a:ext cx="1497571" cy="979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C69016-1AA8-CA63-336D-F9788E98D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727" y="1608476"/>
            <a:ext cx="3665654" cy="2969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E12115-DF84-550C-DA61-23A0B05077CF}"/>
              </a:ext>
            </a:extLst>
          </p:cNvPr>
          <p:cNvSpPr txBox="1"/>
          <p:nvPr/>
        </p:nvSpPr>
        <p:spPr>
          <a:xfrm>
            <a:off x="2153886" y="5178483"/>
            <a:ext cx="57368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Raster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65DE15-E4F9-60ED-76DF-EFBC870961E8}"/>
              </a:ext>
            </a:extLst>
          </p:cNvPr>
          <p:cNvSpPr txBox="1"/>
          <p:nvPr/>
        </p:nvSpPr>
        <p:spPr>
          <a:xfrm>
            <a:off x="5702629" y="5149444"/>
            <a:ext cx="5692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Vector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CE15A-4D90-C6F8-4CC9-8D1A71E4E3A5}"/>
              </a:ext>
            </a:extLst>
          </p:cNvPr>
          <p:cNvSpPr txBox="1"/>
          <p:nvPr/>
        </p:nvSpPr>
        <p:spPr>
          <a:xfrm>
            <a:off x="3198925" y="1365622"/>
            <a:ext cx="216501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This is an electric circuit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481FEC-DF2F-3943-8DBA-AB1DE50C4342}"/>
              </a:ext>
            </a:extLst>
          </p:cNvPr>
          <p:cNvSpPr txBox="1"/>
          <p:nvPr/>
        </p:nvSpPr>
        <p:spPr>
          <a:xfrm>
            <a:off x="6459510" y="4632159"/>
            <a:ext cx="182261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It looks like this one</a:t>
            </a:r>
          </a:p>
        </p:txBody>
      </p:sp>
    </p:spTree>
    <p:extLst>
      <p:ext uri="{BB962C8B-B14F-4D97-AF65-F5344CB8AC3E}">
        <p14:creationId xmlns:p14="http://schemas.microsoft.com/office/powerpoint/2010/main" val="3580834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0ECB9C-7927-8453-26F3-971D7BC992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: vector graphics for PCBs, wiring, and electronics</a:t>
            </a:r>
          </a:p>
          <a:p>
            <a:r>
              <a:rPr lang="en-US" dirty="0"/>
              <a:t>Inkscape: vector graphics in general for art and design</a:t>
            </a:r>
          </a:p>
          <a:p>
            <a:r>
              <a:rPr lang="en-US" dirty="0"/>
              <a:t>These can talk to each other</a:t>
            </a:r>
          </a:p>
          <a:p>
            <a:r>
              <a:rPr lang="en-US" dirty="0"/>
              <a:t>Combined: PCB artwork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6FD74B-F2FC-D38A-A0DB-362874EC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BF4BE-9F6B-E2A2-9223-39096928D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CEA8A-C3C5-8B5A-8471-ED70DC646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635" y="1826079"/>
            <a:ext cx="850900" cy="133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0B4FCA-3F8D-C848-FD7C-D0A3B835D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885" y="3803650"/>
            <a:ext cx="11684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8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D7D2C9-5A53-1C29-F568-5A773E39E3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3840480" cy="5765782"/>
          </a:xfrm>
        </p:spPr>
        <p:txBody>
          <a:bodyPr>
            <a:normAutofit lnSpcReduction="10000"/>
          </a:bodyPr>
          <a:lstStyle/>
          <a:p>
            <a:pPr marL="530352" indent="-457200">
              <a:buFont typeface="+mj-lt"/>
              <a:buAutoNum type="arabicPeriod"/>
            </a:pPr>
            <a:r>
              <a:rPr lang="en-US" sz="2000" dirty="0"/>
              <a:t>Navigate to a .</a:t>
            </a:r>
            <a:r>
              <a:rPr lang="en-US" sz="2000" dirty="0" err="1"/>
              <a:t>kicad_pcb</a:t>
            </a:r>
            <a:r>
              <a:rPr lang="en-US" sz="2000" dirty="0"/>
              <a:t> on </a:t>
            </a:r>
            <a:r>
              <a:rPr lang="en-US" sz="2000" dirty="0" err="1"/>
              <a:t>github</a:t>
            </a:r>
            <a:endParaRPr lang="en-US" sz="2000" dirty="0"/>
          </a:p>
          <a:p>
            <a:pPr marL="530352" indent="-457200">
              <a:buFont typeface="+mj-lt"/>
              <a:buAutoNum type="arabicPeriod"/>
            </a:pPr>
            <a:r>
              <a:rPr lang="en-US" sz="2000" dirty="0"/>
              <a:t>Copy the </a:t>
            </a:r>
            <a:r>
              <a:rPr lang="en-US" sz="2000" dirty="0" err="1"/>
              <a:t>github</a:t>
            </a:r>
            <a:r>
              <a:rPr lang="en-US" sz="2000" dirty="0"/>
              <a:t> link</a:t>
            </a:r>
          </a:p>
          <a:p>
            <a:pPr marL="530352" indent="-457200">
              <a:buFont typeface="+mj-lt"/>
              <a:buAutoNum type="arabicPeriod"/>
            </a:pPr>
            <a:r>
              <a:rPr lang="en-US" sz="2000" dirty="0"/>
              <a:t>Navigate to </a:t>
            </a:r>
            <a:r>
              <a:rPr lang="en-US" sz="2000" dirty="0" err="1"/>
              <a:t>kicanvas.org</a:t>
            </a:r>
            <a:endParaRPr lang="en-US" sz="2000" dirty="0"/>
          </a:p>
          <a:p>
            <a:pPr marL="530352" indent="-457200">
              <a:buFont typeface="+mj-lt"/>
              <a:buAutoNum type="arabicPeriod"/>
            </a:pPr>
            <a:r>
              <a:rPr lang="en-US" sz="2000" dirty="0"/>
              <a:t>Paste the link</a:t>
            </a:r>
          </a:p>
          <a:p>
            <a:pPr marL="73152" indent="0">
              <a:buNone/>
            </a:pPr>
            <a:endParaRPr lang="en-US" sz="2000" dirty="0"/>
          </a:p>
          <a:p>
            <a:pPr marL="73152" indent="0">
              <a:buNone/>
            </a:pPr>
            <a:r>
              <a:rPr lang="en-US" sz="2000" u="sng" dirty="0"/>
              <a:t>Try it out</a:t>
            </a:r>
          </a:p>
          <a:p>
            <a:pPr marL="73152" indent="0">
              <a:buNone/>
            </a:pPr>
            <a:r>
              <a:rPr lang="en-US" sz="1600" dirty="0"/>
              <a:t>Copy: </a:t>
            </a:r>
            <a:r>
              <a:rPr lang="en-US" sz="1600" dirty="0">
                <a:hlinkClick r:id="rId2"/>
              </a:rPr>
              <a:t>https://github.com/atait/PCB-artwork-workshop/tree/main/Example-Zoo</a:t>
            </a:r>
            <a:endParaRPr lang="en-US" sz="1600" dirty="0"/>
          </a:p>
          <a:p>
            <a:pPr marL="73152" indent="0">
              <a:buNone/>
            </a:pPr>
            <a:r>
              <a:rPr lang="en-US" sz="1600" dirty="0"/>
              <a:t>Paste: </a:t>
            </a:r>
            <a:r>
              <a:rPr lang="en-US" sz="1600" dirty="0">
                <a:hlinkClick r:id="rId3"/>
              </a:rPr>
              <a:t>https://kicanvas.org</a:t>
            </a:r>
            <a:endParaRPr lang="en-US" sz="1600" dirty="0"/>
          </a:p>
          <a:p>
            <a:pPr marL="73152" indent="0">
              <a:buNone/>
            </a:pPr>
            <a:r>
              <a:rPr lang="en-US" sz="1600" dirty="0"/>
              <a:t>Or use a direct link: </a:t>
            </a:r>
            <a:r>
              <a:rPr lang="en-US" sz="1600" dirty="0">
                <a:hlinkClick r:id="rId4"/>
              </a:rPr>
              <a:t>https://kicanvas.org/?repo=https%3A%2F%2Fgithub.com%2Fatait%2FPCB-artwork-workshop%2Ftree%2Fmain%2FExample-Zoo</a:t>
            </a:r>
            <a:endParaRPr lang="en-US" sz="1600" dirty="0"/>
          </a:p>
          <a:p>
            <a:pPr marL="73152" indent="0">
              <a:buNone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9C3DD9-DD6F-D28C-2627-2E3FCC5A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502"/>
            <a:ext cx="8117058" cy="482858"/>
          </a:xfrm>
        </p:spPr>
        <p:txBody>
          <a:bodyPr/>
          <a:lstStyle/>
          <a:p>
            <a:r>
              <a:rPr lang="en-US" dirty="0" err="1"/>
              <a:t>KiCanvas</a:t>
            </a:r>
            <a:r>
              <a:rPr lang="en-US" dirty="0"/>
              <a:t> visualizer for PCBs on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F7BC8-ECEC-00B5-7E5F-7B31E95D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DEE89-0FC7-4F7A-6FB5-D4D125FE1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8189" y="1262534"/>
            <a:ext cx="5839519" cy="488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7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074378-1807-DD85-54A6-717708D021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4826001" cy="5765782"/>
          </a:xfrm>
        </p:spPr>
        <p:txBody>
          <a:bodyPr>
            <a:normAutofit/>
          </a:bodyPr>
          <a:lstStyle/>
          <a:p>
            <a:pPr marL="530352" indent="-457200">
              <a:buFont typeface="+mj-lt"/>
              <a:buAutoNum type="arabicPeriod"/>
            </a:pPr>
            <a:r>
              <a:rPr lang="en-US" sz="2000" dirty="0"/>
              <a:t>Software</a:t>
            </a:r>
          </a:p>
          <a:p>
            <a:pPr lvl="1"/>
            <a:r>
              <a:rPr lang="en-US" sz="1800" dirty="0"/>
              <a:t>Get the repo</a:t>
            </a:r>
          </a:p>
          <a:p>
            <a:pPr lvl="1"/>
            <a:r>
              <a:rPr lang="en-US" sz="1800" dirty="0"/>
              <a:t>Download Inkscape</a:t>
            </a:r>
          </a:p>
          <a:p>
            <a:pPr lvl="1"/>
            <a:r>
              <a:rPr lang="en-US" sz="1800" dirty="0"/>
              <a:t>Download </a:t>
            </a:r>
            <a:r>
              <a:rPr lang="en-US" sz="1800" dirty="0" err="1"/>
              <a:t>KiCAD</a:t>
            </a:r>
            <a:endParaRPr lang="en-US" sz="1800" dirty="0"/>
          </a:p>
          <a:p>
            <a:pPr lvl="1"/>
            <a:endParaRPr lang="en-US" sz="1800" dirty="0"/>
          </a:p>
          <a:p>
            <a:pPr marL="530352" indent="-457200">
              <a:buFont typeface="+mj-lt"/>
              <a:buAutoNum type="arabicPeriod"/>
            </a:pPr>
            <a:r>
              <a:rPr lang="en-US" sz="2000" dirty="0"/>
              <a:t>Meet your neighbors. Ask if they know what they want to draw today.</a:t>
            </a:r>
            <a:endParaRPr lang="en-US" sz="1800" dirty="0"/>
          </a:p>
          <a:p>
            <a:pPr lvl="1"/>
            <a:endParaRPr lang="en-US" sz="1800" dirty="0"/>
          </a:p>
          <a:p>
            <a:pPr marL="530352" indent="-457200">
              <a:buFont typeface="+mj-lt"/>
              <a:buAutoNum type="arabicPeriod"/>
            </a:pPr>
            <a:r>
              <a:rPr lang="en-US" sz="2000" dirty="0"/>
              <a:t>Find vector artwork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1600" dirty="0"/>
              <a:t>Search engine. Choose Type &gt; Line drawing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1600" dirty="0"/>
              <a:t>By hand.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1600" dirty="0" err="1"/>
              <a:t>vecteezy.com</a:t>
            </a:r>
            <a:r>
              <a:rPr lang="en-US" sz="1600" dirty="0"/>
              <a:t> and similar sites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41CD5A-EC08-659D-9358-EE2108EE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0: get the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3094F-DEAC-3A5C-EDC7-83C89878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5C531-2A87-DC47-C1BF-C1CC60593AF8}"/>
              </a:ext>
            </a:extLst>
          </p:cNvPr>
          <p:cNvSpPr txBox="1"/>
          <p:nvPr/>
        </p:nvSpPr>
        <p:spPr>
          <a:xfrm>
            <a:off x="3112268" y="1934413"/>
            <a:ext cx="55544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latin typeface="Monaco" pitchFamily="2" charset="77"/>
                <a:hlinkClick r:id="rId2"/>
              </a:rPr>
              <a:t>https://github.com/atait/PCB-artwork-workshop</a:t>
            </a:r>
            <a:endParaRPr lang="en-US" sz="1600" dirty="0">
              <a:latin typeface="Monaco" pitchFamily="2" charset="77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1FAC328-2C0A-3E2D-598C-972A12ABF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922" y="4539297"/>
            <a:ext cx="2557974" cy="1835205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13BE26-CB76-A948-F2B3-C2772703CC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497" t="27880" r="30344" b="48612"/>
          <a:stretch>
            <a:fillRect/>
          </a:stretch>
        </p:blipFill>
        <p:spPr>
          <a:xfrm rot="10800000">
            <a:off x="6196571" y="2318703"/>
            <a:ext cx="1656676" cy="1702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2D7380-D9EC-0ADA-EAC4-ED847B02B480}"/>
              </a:ext>
            </a:extLst>
          </p:cNvPr>
          <p:cNvSpPr txBox="1"/>
          <p:nvPr/>
        </p:nvSpPr>
        <p:spPr>
          <a:xfrm>
            <a:off x="5745922" y="1170776"/>
            <a:ext cx="117198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  <a:hlinkClick r:id="rId5"/>
              </a:rPr>
              <a:t>Link to slides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55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078B-69B0-60C4-2CDF-63A9C8E3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 PCB looks like</a:t>
            </a:r>
          </a:p>
        </p:txBody>
      </p:sp>
    </p:spTree>
    <p:extLst>
      <p:ext uri="{BB962C8B-B14F-4D97-AF65-F5344CB8AC3E}">
        <p14:creationId xmlns:p14="http://schemas.microsoft.com/office/powerpoint/2010/main" val="2861834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75098A-2313-D036-899B-DD03448B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section of PCB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4E2CE-308E-5EB2-2D31-E73D654D7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13"/>
          <a:stretch/>
        </p:blipFill>
        <p:spPr>
          <a:xfrm>
            <a:off x="1055914" y="4406063"/>
            <a:ext cx="6789302" cy="20788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CF0E8E-F282-0F45-6B03-B5112960BE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520"/>
          <a:stretch/>
        </p:blipFill>
        <p:spPr>
          <a:xfrm>
            <a:off x="1309668" y="2373086"/>
            <a:ext cx="6789302" cy="188267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7C138-6592-17EB-0D76-6B7F6ABA35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188267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Copper layer makes electrical connections between pads</a:t>
            </a:r>
          </a:p>
          <a:p>
            <a:pPr lvl="1"/>
            <a:r>
              <a:rPr lang="en-US" dirty="0"/>
              <a:t>Called wires or traces</a:t>
            </a:r>
          </a:p>
          <a:p>
            <a:r>
              <a:rPr lang="en-US" dirty="0"/>
              <a:t>Solder mask layer insulates the traces</a:t>
            </a:r>
          </a:p>
          <a:p>
            <a:r>
              <a:rPr lang="en-US" dirty="0"/>
              <a:t>Solder mask is removed from exposed pads</a:t>
            </a:r>
          </a:p>
          <a:p>
            <a:r>
              <a:rPr lang="en-US" dirty="0"/>
              <a:t>Silkscreen for labeling and decoration</a:t>
            </a:r>
          </a:p>
        </p:txBody>
      </p:sp>
    </p:spTree>
    <p:extLst>
      <p:ext uri="{BB962C8B-B14F-4D97-AF65-F5344CB8AC3E}">
        <p14:creationId xmlns:p14="http://schemas.microsoft.com/office/powerpoint/2010/main" val="3266623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1C0B24-63D7-9BF4-E0E6-8A9AB2C3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mask colors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A83C1-65F6-C94E-3D12-525B04AD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7674F-906D-134A-4B47-7E4DA4A9C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6" y="2808514"/>
            <a:ext cx="7772400" cy="345305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8CD7E5-7CC4-3926-9199-9D180D03CB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1984653"/>
          </a:xfrm>
        </p:spPr>
        <p:txBody>
          <a:bodyPr/>
          <a:lstStyle/>
          <a:p>
            <a:r>
              <a:rPr lang="en-US" dirty="0"/>
              <a:t>Usually green</a:t>
            </a:r>
          </a:p>
          <a:p>
            <a:r>
              <a:rPr lang="en-US" dirty="0"/>
              <a:t>Also: blue, black</a:t>
            </a:r>
          </a:p>
          <a:p>
            <a:r>
              <a:rPr lang="en-US" dirty="0"/>
              <a:t>Less common: red, white, yellow, purple, etc.</a:t>
            </a:r>
          </a:p>
        </p:txBody>
      </p:sp>
    </p:spTree>
    <p:extLst>
      <p:ext uri="{BB962C8B-B14F-4D97-AF65-F5344CB8AC3E}">
        <p14:creationId xmlns:p14="http://schemas.microsoft.com/office/powerpoint/2010/main" val="1362660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A71EC8-B809-C2B4-ED13-7550BC9F6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2049968"/>
          </a:xfrm>
        </p:spPr>
        <p:txBody>
          <a:bodyPr/>
          <a:lstStyle/>
          <a:p>
            <a:r>
              <a:rPr lang="en-US" dirty="0"/>
              <a:t>Copper is coated to look silver or gold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086CB7-A0B4-B8B1-6EB4-EE8A80DB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Copper finish colors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EE92E-13B6-B3CE-F96A-7963EE72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7EE55-DC38-9566-92B0-E25BB1F9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1" y="3581474"/>
            <a:ext cx="7065818" cy="286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1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B95F0-29CD-555F-7A02-33CF6FBE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Silkscreen is white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CDF7D-E8AB-A81D-798A-214B872F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A black electronic device with a fingerprint scan&#10;&#10;Description automatically generated">
            <a:extLst>
              <a:ext uri="{FF2B5EF4-FFF2-40B4-BE49-F238E27FC236}">
                <a16:creationId xmlns:a16="http://schemas.microsoft.com/office/drawing/2014/main" id="{CE3C4F33-8F9D-B545-F431-99081D3086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990"/>
          <a:stretch/>
        </p:blipFill>
        <p:spPr>
          <a:xfrm rot="16200000">
            <a:off x="2870452" y="1247913"/>
            <a:ext cx="3075020" cy="743719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AA6553-9DC4-BE6A-F33F-5652CF7D1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789714" cy="2311225"/>
          </a:xfrm>
        </p:spPr>
        <p:txBody>
          <a:bodyPr/>
          <a:lstStyle/>
          <a:p>
            <a:r>
              <a:rPr lang="en-US" dirty="0"/>
              <a:t>Used for labeling components</a:t>
            </a:r>
          </a:p>
          <a:p>
            <a:r>
              <a:rPr lang="en-US" dirty="0"/>
              <a:t>Also used for text and graphics</a:t>
            </a:r>
          </a:p>
        </p:txBody>
      </p:sp>
      <p:pic>
        <p:nvPicPr>
          <p:cNvPr id="6" name="Picture 5" descr="A black electronic device with a fingerprint scan&#10;&#10;Description automatically generated">
            <a:extLst>
              <a:ext uri="{FF2B5EF4-FFF2-40B4-BE49-F238E27FC236}">
                <a16:creationId xmlns:a16="http://schemas.microsoft.com/office/drawing/2014/main" id="{90820D8C-C362-DD8D-37B6-77C0D6B4C3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777" t="41960" r="3990" b="42525"/>
          <a:stretch/>
        </p:blipFill>
        <p:spPr>
          <a:xfrm rot="16200000">
            <a:off x="5896081" y="806636"/>
            <a:ext cx="1929659" cy="272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5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7C8C91-9E2B-EA76-EE36-88C5E4C91E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5D1A5D-DEDA-52B4-63E3-3C1A9058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layers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E11A2-4CC4-B3D3-E3DC-8E82C8D7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1C9BB-99CA-0A7E-8A6F-AC81AF66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1020702"/>
            <a:ext cx="3784600" cy="5372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9FB18D-DA9F-F060-D060-F93D2F54BDD0}"/>
              </a:ext>
            </a:extLst>
          </p:cNvPr>
          <p:cNvSpPr txBox="1"/>
          <p:nvPr/>
        </p:nvSpPr>
        <p:spPr>
          <a:xfrm>
            <a:off x="6554152" y="3345486"/>
            <a:ext cx="139509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Note, </a:t>
            </a:r>
            <a:r>
              <a:rPr lang="en-US" sz="14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F.Mask</a:t>
            </a:r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drawing layers are </a:t>
            </a:r>
            <a:r>
              <a:rPr lang="en-US" sz="1400" i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inverted</a:t>
            </a:r>
            <a:endParaRPr lang="en-US" sz="14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706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AEDFBB-3EF8-FEA0-59B3-4827164E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cross section visualizer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5A168-780D-E6E7-135B-D5298813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4E7FA-AF98-7341-EC21-E8551F12EB01}"/>
              </a:ext>
            </a:extLst>
          </p:cNvPr>
          <p:cNvSpPr txBox="1"/>
          <p:nvPr/>
        </p:nvSpPr>
        <p:spPr>
          <a:xfrm>
            <a:off x="5666509" y="1316182"/>
            <a:ext cx="277678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https://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www.kayzeng.com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pcb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31298E-9222-EDD8-029E-739C4FC1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17" y="1364700"/>
            <a:ext cx="4309976" cy="4684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D85404-3E0B-E5A0-E82E-249058AE2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505" y="1656470"/>
            <a:ext cx="2034511" cy="205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24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0B2B21-FCB0-0420-B343-8A4655985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152020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Each board has 1 </a:t>
            </a:r>
            <a:r>
              <a:rPr lang="en-US" dirty="0" err="1"/>
              <a:t>soldermask</a:t>
            </a:r>
            <a:r>
              <a:rPr lang="en-US" dirty="0"/>
              <a:t> color (green, blue, black, etc.) and 1 copper finish (silver or gold)</a:t>
            </a:r>
          </a:p>
          <a:p>
            <a:r>
              <a:rPr lang="en-US" dirty="0"/>
              <a:t>Each board has 6 valid layer combinations (</a:t>
            </a:r>
            <a:r>
              <a:rPr lang="en-US" dirty="0" err="1"/>
              <a:t>soldermask+copper</a:t>
            </a:r>
            <a:r>
              <a:rPr lang="en-US" dirty="0"/>
              <a:t>, </a:t>
            </a:r>
            <a:r>
              <a:rPr lang="en-US" dirty="0" err="1"/>
              <a:t>soldermask</a:t>
            </a:r>
            <a:r>
              <a:rPr lang="en-US" dirty="0"/>
              <a:t>, copper, fiberglass, </a:t>
            </a:r>
            <a:r>
              <a:rPr lang="en-US" dirty="0" err="1"/>
              <a:t>silkscreen+copper</a:t>
            </a:r>
            <a:r>
              <a:rPr lang="en-US" dirty="0"/>
              <a:t>, silkscreen)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A095EF-8183-9FA5-CC86-DDF292DF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Swatches for 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FDCDB-6A2F-2832-CF15-998B46CF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CA19A4-A814-B496-68A9-B6A84D4D2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2344070"/>
            <a:ext cx="7467600" cy="3975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1F4DC4-28D9-12DA-3F3B-331D82FE5106}"/>
              </a:ext>
            </a:extLst>
          </p:cNvPr>
          <p:cNvSpPr txBox="1"/>
          <p:nvPr/>
        </p:nvSpPr>
        <p:spPr>
          <a:xfrm>
            <a:off x="2173234" y="6404420"/>
            <a:ext cx="1642110" cy="369332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Silkscreen is black when using white </a:t>
            </a:r>
            <a:r>
              <a:rPr lang="en-US" sz="12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soldermask</a:t>
            </a:r>
            <a:endParaRPr lang="en-US" sz="12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091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311441-26EF-C72E-470D-A23C58DD13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Edge.Cuts</a:t>
            </a:r>
            <a:r>
              <a:rPr lang="en-US" dirty="0"/>
              <a:t> is like an extra design layer</a:t>
            </a:r>
          </a:p>
          <a:p>
            <a:r>
              <a:rPr lang="en-US" dirty="0"/>
              <a:t>Use paths with outline strokes instead of filled paths</a:t>
            </a:r>
          </a:p>
          <a:p>
            <a:r>
              <a:rPr lang="en-US" dirty="0"/>
              <a:t>Right: heart + bottle opener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EFB25-9B58-DAE7-AC70-19EB42DF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Cutouts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1C0EC-E6C6-A4AA-76C2-441D20E4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E3C520-3AB2-08D2-D487-99884F6A7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87" y="1130494"/>
            <a:ext cx="3864387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19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77B925-FB09-EB43-DFE9-F19B80966C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You can use </a:t>
            </a:r>
            <a:r>
              <a:rPr lang="en-US" sz="2000" dirty="0" err="1"/>
              <a:t>soldermask</a:t>
            </a:r>
            <a:r>
              <a:rPr lang="en-US" sz="2000" dirty="0"/>
              <a:t> and copper on the back side to create different translucencies</a:t>
            </a:r>
          </a:p>
          <a:p>
            <a:pPr lvl="1"/>
            <a:r>
              <a:rPr lang="en-US" sz="1800" dirty="0"/>
              <a:t>Single-layer: 6 design colors</a:t>
            </a:r>
          </a:p>
          <a:p>
            <a:pPr lvl="1"/>
            <a:r>
              <a:rPr lang="en-US" sz="1800" dirty="0"/>
              <a:t>W/ translucency: effectively 8 design colors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974DB0-7A76-842B-2BC6-5E73080F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Translucency effects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53F5-0877-9F11-E5AD-213D0E08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7710F7-B767-7DBB-DF17-FBCDA108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74" t="22357" r="22580" b="22135"/>
          <a:stretch>
            <a:fillRect/>
          </a:stretch>
        </p:blipFill>
        <p:spPr>
          <a:xfrm rot="10800000">
            <a:off x="4655496" y="2369692"/>
            <a:ext cx="4011178" cy="2674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B2BBE-7C20-74E4-BCBB-F3BDEF0BBF8F}"/>
              </a:ext>
            </a:extLst>
          </p:cNvPr>
          <p:cNvSpPr txBox="1"/>
          <p:nvPr/>
        </p:nvSpPr>
        <p:spPr>
          <a:xfrm>
            <a:off x="6374443" y="1537098"/>
            <a:ext cx="229223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Fiberglass with bare 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27CB15-F63D-18EF-6D1D-B5F5C4C4173F}"/>
              </a:ext>
            </a:extLst>
          </p:cNvPr>
          <p:cNvSpPr txBox="1"/>
          <p:nvPr/>
        </p:nvSpPr>
        <p:spPr>
          <a:xfrm>
            <a:off x="4930963" y="5507074"/>
            <a:ext cx="346024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Fiberglass with 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soldermask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, no copper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78C25-7AD6-5A9D-5469-28EE731D3814}"/>
              </a:ext>
            </a:extLst>
          </p:cNvPr>
          <p:cNvSpPr txBox="1"/>
          <p:nvPr/>
        </p:nvSpPr>
        <p:spPr>
          <a:xfrm>
            <a:off x="4479102" y="1226290"/>
            <a:ext cx="27805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Fiberglass with copper backing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119494-C234-090C-D738-4C3DD5278443}"/>
              </a:ext>
            </a:extLst>
          </p:cNvPr>
          <p:cNvCxnSpPr>
            <a:cxnSpLocks/>
          </p:cNvCxnSpPr>
          <p:nvPr/>
        </p:nvCxnSpPr>
        <p:spPr>
          <a:xfrm>
            <a:off x="5869386" y="1619306"/>
            <a:ext cx="505057" cy="13428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2384C1-A15C-D2AD-4563-65CE5B48E895}"/>
              </a:ext>
            </a:extLst>
          </p:cNvPr>
          <p:cNvCxnSpPr>
            <a:cxnSpLocks/>
          </p:cNvCxnSpPr>
          <p:nvPr/>
        </p:nvCxnSpPr>
        <p:spPr>
          <a:xfrm flipH="1">
            <a:off x="7259671" y="1841929"/>
            <a:ext cx="132802" cy="10171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5BB788-8816-EEA8-BEEA-95C0BD3B7A3C}"/>
              </a:ext>
            </a:extLst>
          </p:cNvPr>
          <p:cNvCxnSpPr>
            <a:cxnSpLocks/>
          </p:cNvCxnSpPr>
          <p:nvPr/>
        </p:nvCxnSpPr>
        <p:spPr>
          <a:xfrm flipV="1">
            <a:off x="7083380" y="4121239"/>
            <a:ext cx="176291" cy="13471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87C27FE-1A12-7B03-F770-F4E91F767094}"/>
              </a:ext>
            </a:extLst>
          </p:cNvPr>
          <p:cNvSpPr txBox="1"/>
          <p:nvPr/>
        </p:nvSpPr>
        <p:spPr>
          <a:xfrm>
            <a:off x="5924282" y="837126"/>
            <a:ext cx="97404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4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Swatch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D1606B-1EEB-4A5C-D206-A910AEB041BE}"/>
              </a:ext>
            </a:extLst>
          </p:cNvPr>
          <p:cNvCxnSpPr>
            <a:cxnSpLocks/>
          </p:cNvCxnSpPr>
          <p:nvPr/>
        </p:nvCxnSpPr>
        <p:spPr>
          <a:xfrm>
            <a:off x="5785890" y="1628192"/>
            <a:ext cx="399529" cy="20785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124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2250D3-59DD-EE5C-C5D0-51E45D32E9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EE9EA7-B57C-7804-282B-523828C2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Translucency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191A4-5578-C999-11BA-D0A7B976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A290F-F60D-A218-F367-8A5867FE7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595" y="1228615"/>
            <a:ext cx="3513079" cy="46841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FD19C-B2EE-25B7-01B8-C5BDEED09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4311" t="31638" r="10998" b="12062"/>
          <a:stretch>
            <a:fillRect/>
          </a:stretch>
        </p:blipFill>
        <p:spPr>
          <a:xfrm rot="10800000">
            <a:off x="1058919" y="2214506"/>
            <a:ext cx="3513081" cy="271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46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1DA3482-148D-F1BF-BE3B-68E74B350D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4329893" cy="2445311"/>
          </a:xfrm>
        </p:spPr>
        <p:txBody>
          <a:bodyPr>
            <a:normAutofit/>
          </a:bodyPr>
          <a:lstStyle/>
          <a:p>
            <a:r>
              <a:rPr lang="en-US" sz="2000" dirty="0"/>
              <a:t>Start: NYCR-logo-phase-1.svg</a:t>
            </a:r>
          </a:p>
          <a:p>
            <a:r>
              <a:rPr lang="en-US" sz="2000" dirty="0"/>
              <a:t>End: NYCresistor-card-example1.kicad_pcb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D00F5A-48AB-5762-CE3F-480B24FD6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501"/>
            <a:ext cx="7630689" cy="1016041"/>
          </a:xfrm>
        </p:spPr>
        <p:txBody>
          <a:bodyPr/>
          <a:lstStyle/>
          <a:p>
            <a:r>
              <a:rPr lang="en-US" dirty="0"/>
              <a:t>Asynchronous: Workflow 1: </a:t>
            </a:r>
            <a:br>
              <a:rPr lang="en-US" dirty="0"/>
            </a:br>
            <a:r>
              <a:rPr lang="en-US" dirty="0"/>
              <a:t>single-layer import into CAD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85B36-13E4-C657-85F9-072FF162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F3CBD5C-42DE-A906-6474-B6345691E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434" y="2842448"/>
            <a:ext cx="5308654" cy="39270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73C99A-0ED7-D57B-6C7E-103CAAB4640C}"/>
              </a:ext>
            </a:extLst>
          </p:cNvPr>
          <p:cNvSpPr txBox="1"/>
          <p:nvPr/>
        </p:nvSpPr>
        <p:spPr>
          <a:xfrm>
            <a:off x="353335" y="3269172"/>
            <a:ext cx="35843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Follow the instructions in 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README.md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Do the example first, then try your 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AD485B-6B2B-B27A-6E09-DD6D529B5F9B}"/>
              </a:ext>
            </a:extLst>
          </p:cNvPr>
          <p:cNvSpPr txBox="1"/>
          <p:nvPr/>
        </p:nvSpPr>
        <p:spPr>
          <a:xfrm>
            <a:off x="353335" y="4506093"/>
            <a:ext cx="21844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Try importing multiple copies onto different layers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5CACA9-F066-3970-19CA-B0DB47C61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511" y="1835500"/>
            <a:ext cx="4000500" cy="7847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839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8184F6-8DAF-CB0B-9782-D9EB5D02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graphics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1ECE7-6D42-B161-95C3-FCF82ABD47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8513" y="6403975"/>
            <a:ext cx="725487" cy="365125"/>
          </a:xfrm>
        </p:spPr>
        <p:txBody>
          <a:bodyPr/>
          <a:lstStyle/>
          <a:p>
            <a:fld id="{A1CE482F-FCB4-614E-8004-33C88C9952E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26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073F50-6E12-1571-0A84-DD9952F288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2996328"/>
          </a:xfrm>
        </p:spPr>
        <p:txBody>
          <a:bodyPr/>
          <a:lstStyle/>
          <a:p>
            <a:r>
              <a:rPr lang="en-US" dirty="0"/>
              <a:t>Each path is a closed shape</a:t>
            </a:r>
          </a:p>
          <a:p>
            <a:r>
              <a:rPr lang="en-US" dirty="0"/>
              <a:t>They are defined by anchor nodes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2101D9-49B7-AD32-122F-C9712CD7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 and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01E3E-B820-A854-2FC6-EE780619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1648FB6-BF0D-0926-7E0D-00456B0FE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6" y="3820189"/>
            <a:ext cx="7772400" cy="304999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D399BA-FC91-3567-E4D1-A85F949866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31" t="36707" r="73085" b="38483"/>
          <a:stretch/>
        </p:blipFill>
        <p:spPr>
          <a:xfrm>
            <a:off x="5236028" y="1452353"/>
            <a:ext cx="2198915" cy="22814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A6CFA8-1548-0F17-80F5-D8B5571CABA7}"/>
              </a:ext>
            </a:extLst>
          </p:cNvPr>
          <p:cNvSpPr txBox="1"/>
          <p:nvPr/>
        </p:nvSpPr>
        <p:spPr>
          <a:xfrm>
            <a:off x="6192615" y="1121228"/>
            <a:ext cx="124232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Anchor points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4741B7-E894-2690-523C-7CE8BCDBCC2D}"/>
              </a:ext>
            </a:extLst>
          </p:cNvPr>
          <p:cNvCxnSpPr/>
          <p:nvPr/>
        </p:nvCxnSpPr>
        <p:spPr>
          <a:xfrm>
            <a:off x="6444343" y="1365965"/>
            <a:ext cx="174171" cy="4084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58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BA8993-CFA3-F67C-D43E-9BD1F85664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2975253"/>
          </a:xfrm>
        </p:spPr>
        <p:txBody>
          <a:bodyPr/>
          <a:lstStyle/>
          <a:p>
            <a:r>
              <a:rPr lang="en-US" dirty="0"/>
              <a:t>A group is a set of multiple paths that move together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DE9140-F18E-D5D3-1884-3DD01928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B0745-3D14-D37D-1B67-6DCD7482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6A6EC29F-CABD-3E34-51AD-F8F123091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5" y="3999129"/>
            <a:ext cx="7285346" cy="285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61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1A7DCC-4F45-8798-31DC-CE87E9B296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260513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layer is also a set of multiple paths, but </a:t>
            </a:r>
            <a:r>
              <a:rPr lang="en-US" b="1" dirty="0"/>
              <a:t>different from a group</a:t>
            </a:r>
          </a:p>
          <a:p>
            <a:r>
              <a:rPr lang="en-US" dirty="0"/>
              <a:t>Layers typically don’t move together</a:t>
            </a:r>
          </a:p>
          <a:p>
            <a:r>
              <a:rPr lang="en-US" dirty="0"/>
              <a:t>Layers give control over</a:t>
            </a:r>
          </a:p>
          <a:p>
            <a:pPr lvl="1"/>
            <a:r>
              <a:rPr lang="en-US" dirty="0"/>
              <a:t>Naming</a:t>
            </a:r>
          </a:p>
          <a:p>
            <a:pPr lvl="1"/>
            <a:r>
              <a:rPr lang="en-US" dirty="0"/>
              <a:t>Hiding/Showing</a:t>
            </a:r>
          </a:p>
          <a:p>
            <a:pPr lvl="1"/>
            <a:r>
              <a:rPr lang="en-US" dirty="0"/>
              <a:t>Ordering (what shows in front)</a:t>
            </a:r>
          </a:p>
          <a:p>
            <a:pPr lvl="1"/>
            <a:r>
              <a:rPr lang="en-US" i="1" dirty="0"/>
              <a:t>Communicating with </a:t>
            </a:r>
            <a:r>
              <a:rPr lang="en-US" i="1" dirty="0" err="1"/>
              <a:t>Kicad</a:t>
            </a:r>
            <a:endParaRPr lang="en-US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8C4FA2-6E28-0E2D-460A-EF79EB9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in SVG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5AD28-26BD-1621-8484-A922F8D8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0FDE7B8-3278-95E7-62A4-22398F86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34" y="3414547"/>
            <a:ext cx="8549640" cy="335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71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55185B-4F18-FA13-54E9-F40A9A5F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 Layers </a:t>
            </a:r>
            <a:r>
              <a:rPr lang="en-US" i="1" dirty="0"/>
              <a:t>for PCB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2B82-03E5-0632-33E9-7916BC27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B8A4F-2C9E-8E07-6E8E-6A52E2C0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451"/>
          <a:stretch/>
        </p:blipFill>
        <p:spPr>
          <a:xfrm>
            <a:off x="1309586" y="4719066"/>
            <a:ext cx="6524828" cy="1839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8FC1B6-74D1-8670-A989-8F8E9523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089" y="1058581"/>
            <a:ext cx="2315807" cy="304266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1970C1-19E0-FC41-874C-3EB5A6ED2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3895205"/>
          </a:xfrm>
        </p:spPr>
        <p:txBody>
          <a:bodyPr/>
          <a:lstStyle/>
          <a:p>
            <a:r>
              <a:rPr lang="en-US" i="1" dirty="0"/>
              <a:t>SVG layers correspond to PCB CAD layers</a:t>
            </a:r>
          </a:p>
          <a:p>
            <a:r>
              <a:rPr lang="en-US" dirty="0" err="1"/>
              <a:t>F.x</a:t>
            </a:r>
            <a:r>
              <a:rPr lang="en-US" dirty="0"/>
              <a:t> (front) </a:t>
            </a:r>
            <a:r>
              <a:rPr lang="en-US" dirty="0" err="1"/>
              <a:t>B.x</a:t>
            </a:r>
            <a:r>
              <a:rPr lang="en-US" dirty="0"/>
              <a:t> (back)</a:t>
            </a:r>
          </a:p>
          <a:p>
            <a:r>
              <a:rPr lang="en-US" dirty="0" err="1"/>
              <a:t>x.Cu</a:t>
            </a:r>
            <a:r>
              <a:rPr lang="en-US" dirty="0"/>
              <a:t> = copper</a:t>
            </a:r>
          </a:p>
          <a:p>
            <a:r>
              <a:rPr lang="en-US" dirty="0"/>
              <a:t>So </a:t>
            </a:r>
            <a:r>
              <a:rPr lang="en-US" b="1" dirty="0" err="1"/>
              <a:t>F.Cu</a:t>
            </a:r>
            <a:r>
              <a:rPr lang="en-US" b="1" dirty="0"/>
              <a:t> = front copper</a:t>
            </a:r>
          </a:p>
          <a:p>
            <a:r>
              <a:rPr lang="en-US" dirty="0" err="1"/>
              <a:t>x.Mask</a:t>
            </a:r>
            <a:r>
              <a:rPr lang="en-US" dirty="0"/>
              <a:t> layers are </a:t>
            </a:r>
            <a:r>
              <a:rPr lang="en-US" u="sng" dirty="0"/>
              <a:t>inverted</a:t>
            </a:r>
          </a:p>
          <a:p>
            <a:pPr lvl="1"/>
            <a:r>
              <a:rPr lang="en-US" dirty="0"/>
              <a:t>Shapes on Mask layers will be openings in the solder mask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60D0F-E5A9-1FE2-95A2-F7C7D043B495}"/>
              </a:ext>
            </a:extLst>
          </p:cNvPr>
          <p:cNvSpPr/>
          <p:nvPr/>
        </p:nvSpPr>
        <p:spPr>
          <a:xfrm>
            <a:off x="5988089" y="1676400"/>
            <a:ext cx="2315807" cy="1186543"/>
          </a:xfrm>
          <a:prstGeom prst="rect">
            <a:avLst/>
          </a:prstGeom>
          <a:solidFill>
            <a:schemeClr val="bg1">
              <a:lumMod val="85000"/>
              <a:alpha val="94743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203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8184F6-8DAF-CB0B-9782-D9EB5D02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vector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1ECE7-6D42-B161-95C3-FCF82ABD47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8513" y="6403975"/>
            <a:ext cx="725487" cy="365125"/>
          </a:xfrm>
        </p:spPr>
        <p:txBody>
          <a:bodyPr/>
          <a:lstStyle/>
          <a:p>
            <a:fld id="{A1CE482F-FCB4-614E-8004-33C88C9952E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60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03D2C8-05AA-2DE3-EF94-89BA44635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Make things the right size</a:t>
            </a:r>
          </a:p>
          <a:p>
            <a:r>
              <a:rPr lang="en-US" dirty="0"/>
              <a:t>Two techniques</a:t>
            </a:r>
          </a:p>
          <a:p>
            <a:pPr lvl="1"/>
            <a:r>
              <a:rPr lang="en-US" dirty="0"/>
              <a:t>Click and drag</a:t>
            </a:r>
          </a:p>
          <a:p>
            <a:pPr lvl="1"/>
            <a:r>
              <a:rPr lang="en-US" dirty="0"/>
              <a:t>Enter scale numbers</a:t>
            </a:r>
          </a:p>
          <a:p>
            <a:r>
              <a:rPr lang="en-US" dirty="0"/>
              <a:t>Usually you want to lock the aspect ratio </a:t>
            </a:r>
          </a:p>
          <a:p>
            <a:pPr lvl="1"/>
            <a:r>
              <a:rPr lang="en-US" dirty="0"/>
              <a:t>Hold Ctrl while dragging</a:t>
            </a:r>
          </a:p>
          <a:p>
            <a:pPr lvl="1"/>
            <a:r>
              <a:rPr lang="en-US" dirty="0"/>
              <a:t>or click the lock button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6B5EA8-FF33-3C6E-7B55-A0968B52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912F-9E87-EF6D-75AB-B95EA971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A3D33C6-03B3-13F0-BBAF-C248E2837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007" y="1839567"/>
            <a:ext cx="3946446" cy="20361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67CB82-5AC2-5900-AED5-C7BAA20C45BC}"/>
              </a:ext>
            </a:extLst>
          </p:cNvPr>
          <p:cNvSpPr txBox="1"/>
          <p:nvPr/>
        </p:nvSpPr>
        <p:spPr>
          <a:xfrm>
            <a:off x="5540827" y="1066799"/>
            <a:ext cx="247490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Turn on to lock aspect ratio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04EBFF-A344-16E1-1C5E-50B497F6CE6C}"/>
              </a:ext>
            </a:extLst>
          </p:cNvPr>
          <p:cNvCxnSpPr>
            <a:cxnSpLocks/>
          </p:cNvCxnSpPr>
          <p:nvPr/>
        </p:nvCxnSpPr>
        <p:spPr>
          <a:xfrm>
            <a:off x="6745623" y="1302134"/>
            <a:ext cx="0" cy="5374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C200B2A-B4C2-824D-1E82-ABD6058EB28C}"/>
              </a:ext>
            </a:extLst>
          </p:cNvPr>
          <p:cNvSpPr/>
          <p:nvPr/>
        </p:nvSpPr>
        <p:spPr>
          <a:xfrm>
            <a:off x="5083007" y="2220686"/>
            <a:ext cx="3320764" cy="1655079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93F7E2-F88B-0764-F238-EFF023333EA4}"/>
              </a:ext>
            </a:extLst>
          </p:cNvPr>
          <p:cNvCxnSpPr>
            <a:cxnSpLocks/>
          </p:cNvCxnSpPr>
          <p:nvPr/>
        </p:nvCxnSpPr>
        <p:spPr>
          <a:xfrm>
            <a:off x="7826829" y="2623457"/>
            <a:ext cx="4770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A06952-9433-0A60-D0B3-B6B080167918}"/>
              </a:ext>
            </a:extLst>
          </p:cNvPr>
          <p:cNvSpPr txBox="1"/>
          <p:nvPr/>
        </p:nvSpPr>
        <p:spPr>
          <a:xfrm>
            <a:off x="6843827" y="2500346"/>
            <a:ext cx="88312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Real units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F52FFC-532F-74E3-1ED1-AE247C03C8F8}"/>
              </a:ext>
            </a:extLst>
          </p:cNvPr>
          <p:cNvSpPr txBox="1"/>
          <p:nvPr/>
        </p:nvSpPr>
        <p:spPr>
          <a:xfrm>
            <a:off x="6541793" y="3504075"/>
            <a:ext cx="120693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Relative units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31F21C-B625-1652-E1F5-306D3593EA51}"/>
              </a:ext>
            </a:extLst>
          </p:cNvPr>
          <p:cNvCxnSpPr>
            <a:cxnSpLocks/>
          </p:cNvCxnSpPr>
          <p:nvPr/>
        </p:nvCxnSpPr>
        <p:spPr>
          <a:xfrm>
            <a:off x="7830679" y="3627185"/>
            <a:ext cx="4770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176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90CA48-E4C1-7613-A281-A45A3D5857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4282577" cy="5765782"/>
          </a:xfrm>
        </p:spPr>
        <p:txBody>
          <a:bodyPr/>
          <a:lstStyle/>
          <a:p>
            <a:r>
              <a:rPr lang="en-US" dirty="0"/>
              <a:t>Boolean is a term from logic, something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...</a:t>
            </a:r>
          </a:p>
          <a:p>
            <a:pPr lvl="1"/>
            <a:r>
              <a:rPr lang="en-US" dirty="0"/>
              <a:t>In digital electronics: True = 5 Volts, False = 0 Volts</a:t>
            </a:r>
          </a:p>
          <a:p>
            <a:r>
              <a:rPr lang="en-US" dirty="0"/>
              <a:t>Operation: two things in, one thing out</a:t>
            </a:r>
          </a:p>
          <a:p>
            <a:pPr lvl="1"/>
            <a:r>
              <a:rPr lang="en-US" dirty="0"/>
              <a:t>A + B = C</a:t>
            </a:r>
          </a:p>
          <a:p>
            <a:pPr lvl="1"/>
            <a:r>
              <a:rPr lang="en-US" dirty="0"/>
              <a:t>A x B = D</a:t>
            </a:r>
          </a:p>
          <a:p>
            <a:r>
              <a:rPr lang="en-US" dirty="0"/>
              <a:t>In vector graphics: inputs and outputs are shapes</a:t>
            </a:r>
          </a:p>
          <a:p>
            <a:pPr lvl="1"/>
            <a:r>
              <a:rPr lang="en-US" dirty="0"/>
              <a:t>True = inside, False = outside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B85D97-B392-2A05-4D08-FF9ECE7C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103AE-1A62-BD1F-8ED6-BEDF69AA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C908E-E1B8-4D59-478E-4F1293F064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" r="2081"/>
          <a:stretch/>
        </p:blipFill>
        <p:spPr>
          <a:xfrm>
            <a:off x="4817680" y="4550402"/>
            <a:ext cx="4000747" cy="190217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408C9BC-1AD9-8729-50CC-6DC906123725}"/>
              </a:ext>
            </a:extLst>
          </p:cNvPr>
          <p:cNvGrpSpPr/>
          <p:nvPr/>
        </p:nvGrpSpPr>
        <p:grpSpPr>
          <a:xfrm>
            <a:off x="6004899" y="1104991"/>
            <a:ext cx="1670035" cy="759857"/>
            <a:chOff x="1093600" y="1552268"/>
            <a:chExt cx="1670035" cy="7598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39750A-EDDF-CCF2-CB3C-0361E5E19FA6}"/>
                </a:ext>
              </a:extLst>
            </p:cNvPr>
            <p:cNvSpPr/>
            <p:nvPr/>
          </p:nvSpPr>
          <p:spPr>
            <a:xfrm>
              <a:off x="1606732" y="1724296"/>
              <a:ext cx="600046" cy="5878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3200" dirty="0">
                  <a:latin typeface="Proxima Nova" panose="02000506030000020004" pitchFamily="2" charset="0"/>
                  <a:ea typeface="Helvetica Light" charset="0"/>
                  <a:cs typeface="Helvetica Light" charset="0"/>
                </a:rPr>
                <a:t>+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CD16325-2C62-AF14-801E-E4FC73C41B75}"/>
                </a:ext>
              </a:extLst>
            </p:cNvPr>
            <p:cNvCxnSpPr/>
            <p:nvPr/>
          </p:nvCxnSpPr>
          <p:spPr>
            <a:xfrm>
              <a:off x="1162594" y="1829267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DBD2F04-0D74-C3C2-6AE0-895424111C8B}"/>
                </a:ext>
              </a:extLst>
            </p:cNvPr>
            <p:cNvCxnSpPr/>
            <p:nvPr/>
          </p:nvCxnSpPr>
          <p:spPr>
            <a:xfrm>
              <a:off x="1162529" y="2168435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612F529-FB7E-90CF-3C12-7784F071B9FA}"/>
                </a:ext>
              </a:extLst>
            </p:cNvPr>
            <p:cNvCxnSpPr/>
            <p:nvPr/>
          </p:nvCxnSpPr>
          <p:spPr>
            <a:xfrm>
              <a:off x="2206778" y="1998851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674031-19E4-BAED-5FAC-B5F86A73695A}"/>
                </a:ext>
              </a:extLst>
            </p:cNvPr>
            <p:cNvSpPr txBox="1"/>
            <p:nvPr/>
          </p:nvSpPr>
          <p:spPr>
            <a:xfrm>
              <a:off x="1093600" y="1552268"/>
              <a:ext cx="13785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dirty="0">
                  <a:latin typeface="Proxima Nova" panose="02000506030000020004" pitchFamily="2" charset="0"/>
                  <a:ea typeface="Avenir Next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B815A7-2846-A02B-119A-C656681B65E3}"/>
                </a:ext>
              </a:extLst>
            </p:cNvPr>
            <p:cNvSpPr txBox="1"/>
            <p:nvPr/>
          </p:nvSpPr>
          <p:spPr>
            <a:xfrm>
              <a:off x="1102325" y="1897733"/>
              <a:ext cx="13625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dirty="0">
                  <a:latin typeface="Proxima Nova" panose="02000506030000020004" pitchFamily="2" charset="0"/>
                  <a:ea typeface="Avenir Next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93485E-4758-CDBF-BC87-454712BA2100}"/>
                </a:ext>
              </a:extLst>
            </p:cNvPr>
            <p:cNvSpPr txBox="1"/>
            <p:nvPr/>
          </p:nvSpPr>
          <p:spPr>
            <a:xfrm>
              <a:off x="2625777" y="1721852"/>
              <a:ext cx="13785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dirty="0">
                  <a:latin typeface="Proxima Nova" panose="02000506030000020004" pitchFamily="2" charset="0"/>
                  <a:ea typeface="Avenir Next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66C2B6-D440-9635-C5FC-B5E14F60D742}"/>
              </a:ext>
            </a:extLst>
          </p:cNvPr>
          <p:cNvGrpSpPr/>
          <p:nvPr/>
        </p:nvGrpSpPr>
        <p:grpSpPr>
          <a:xfrm>
            <a:off x="5698687" y="2297360"/>
            <a:ext cx="2282459" cy="685897"/>
            <a:chOff x="805829" y="5461713"/>
            <a:chExt cx="2282459" cy="68589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8F9B0EF-C9CB-CB95-06B4-B29C02618836}"/>
                </a:ext>
              </a:extLst>
            </p:cNvPr>
            <p:cNvSpPr/>
            <p:nvPr/>
          </p:nvSpPr>
          <p:spPr>
            <a:xfrm>
              <a:off x="1632728" y="5477482"/>
              <a:ext cx="600046" cy="5878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3200" dirty="0">
                  <a:latin typeface="Proxima Nova" panose="02000506030000020004" pitchFamily="2" charset="0"/>
                  <a:ea typeface="Helvetica Light" charset="0"/>
                  <a:cs typeface="Helvetica Light" charset="0"/>
                </a:rPr>
                <a:t>+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61FD95B-8E1B-BC96-8815-F2F623159559}"/>
                </a:ext>
              </a:extLst>
            </p:cNvPr>
            <p:cNvCxnSpPr/>
            <p:nvPr/>
          </p:nvCxnSpPr>
          <p:spPr>
            <a:xfrm>
              <a:off x="1188590" y="5582453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E1E8BF4-5216-4F87-7C5C-ADC4D34F7082}"/>
                </a:ext>
              </a:extLst>
            </p:cNvPr>
            <p:cNvCxnSpPr/>
            <p:nvPr/>
          </p:nvCxnSpPr>
          <p:spPr>
            <a:xfrm>
              <a:off x="1188525" y="5921621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1B5EBF4-D41F-0EA6-6AE5-7C148B34FF36}"/>
                </a:ext>
              </a:extLst>
            </p:cNvPr>
            <p:cNvCxnSpPr/>
            <p:nvPr/>
          </p:nvCxnSpPr>
          <p:spPr>
            <a:xfrm>
              <a:off x="2232774" y="5752037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68E214E-7215-85F7-69CD-36BE800F09B5}"/>
                </a:ext>
              </a:extLst>
            </p:cNvPr>
            <p:cNvSpPr/>
            <p:nvPr/>
          </p:nvSpPr>
          <p:spPr>
            <a:xfrm>
              <a:off x="805829" y="5869375"/>
              <a:ext cx="284018" cy="278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32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377B837-134B-4463-948B-B89F4882952F}"/>
                </a:ext>
              </a:extLst>
            </p:cNvPr>
            <p:cNvSpPr/>
            <p:nvPr/>
          </p:nvSpPr>
          <p:spPr>
            <a:xfrm>
              <a:off x="853717" y="5461713"/>
              <a:ext cx="249466" cy="2371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8448B6D-4E60-7091-94D9-D80C3128AA2D}"/>
                </a:ext>
              </a:extLst>
            </p:cNvPr>
            <p:cNvSpPr/>
            <p:nvPr/>
          </p:nvSpPr>
          <p:spPr>
            <a:xfrm>
              <a:off x="2804270" y="5643386"/>
              <a:ext cx="284018" cy="278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32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AED085-001D-4655-9FDD-B6767785445E}"/>
                </a:ext>
              </a:extLst>
            </p:cNvPr>
            <p:cNvSpPr/>
            <p:nvPr/>
          </p:nvSpPr>
          <p:spPr>
            <a:xfrm>
              <a:off x="2696813" y="5524805"/>
              <a:ext cx="249466" cy="2371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ED7D66-CBEA-A060-26A8-D0C03925DAD7}"/>
              </a:ext>
            </a:extLst>
          </p:cNvPr>
          <p:cNvGrpSpPr/>
          <p:nvPr/>
        </p:nvGrpSpPr>
        <p:grpSpPr>
          <a:xfrm>
            <a:off x="5744578" y="3415769"/>
            <a:ext cx="2094559" cy="685897"/>
            <a:chOff x="4338188" y="5663485"/>
            <a:chExt cx="2094559" cy="68589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02D0FB0-9AA9-470F-83A9-8B92463D7976}"/>
                </a:ext>
              </a:extLst>
            </p:cNvPr>
            <p:cNvSpPr/>
            <p:nvPr/>
          </p:nvSpPr>
          <p:spPr>
            <a:xfrm>
              <a:off x="5165087" y="5679254"/>
              <a:ext cx="600046" cy="5878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3200" dirty="0">
                  <a:latin typeface="Proxima Nova" panose="02000506030000020004" pitchFamily="2" charset="0"/>
                  <a:ea typeface="Helvetica Light" charset="0"/>
                  <a:cs typeface="Helvetica Light" charset="0"/>
                </a:rPr>
                <a:t>x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A18121E-935D-22F3-AE49-F995B29FA8DF}"/>
                </a:ext>
              </a:extLst>
            </p:cNvPr>
            <p:cNvCxnSpPr/>
            <p:nvPr/>
          </p:nvCxnSpPr>
          <p:spPr>
            <a:xfrm>
              <a:off x="4720949" y="5784225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363DE6-3C03-0B0E-DDF5-C8B4D223DC5B}"/>
                </a:ext>
              </a:extLst>
            </p:cNvPr>
            <p:cNvCxnSpPr/>
            <p:nvPr/>
          </p:nvCxnSpPr>
          <p:spPr>
            <a:xfrm>
              <a:off x="4720884" y="6123393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8D155BB-0576-6FAF-B47C-B72020297349}"/>
                </a:ext>
              </a:extLst>
            </p:cNvPr>
            <p:cNvCxnSpPr/>
            <p:nvPr/>
          </p:nvCxnSpPr>
          <p:spPr>
            <a:xfrm>
              <a:off x="5765133" y="5953809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48D0444-7804-2DA9-CD1E-71D87505ECBA}"/>
                </a:ext>
              </a:extLst>
            </p:cNvPr>
            <p:cNvSpPr/>
            <p:nvPr/>
          </p:nvSpPr>
          <p:spPr>
            <a:xfrm>
              <a:off x="4338188" y="6071147"/>
              <a:ext cx="284018" cy="278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32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47A181-4C82-EC0E-718B-D56DF264EAC7}"/>
                </a:ext>
              </a:extLst>
            </p:cNvPr>
            <p:cNvSpPr/>
            <p:nvPr/>
          </p:nvSpPr>
          <p:spPr>
            <a:xfrm>
              <a:off x="4386076" y="5663485"/>
              <a:ext cx="249466" cy="2371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6" name="Pie 45">
              <a:extLst>
                <a:ext uri="{FF2B5EF4-FFF2-40B4-BE49-F238E27FC236}">
                  <a16:creationId xmlns:a16="http://schemas.microsoft.com/office/drawing/2014/main" id="{CB22E90A-A0CF-8479-FE68-8AD8E7109902}"/>
                </a:ext>
              </a:extLst>
            </p:cNvPr>
            <p:cNvSpPr/>
            <p:nvPr/>
          </p:nvSpPr>
          <p:spPr>
            <a:xfrm>
              <a:off x="6183281" y="5720424"/>
              <a:ext cx="249466" cy="249466"/>
            </a:xfrm>
            <a:prstGeom prst="pie">
              <a:avLst>
                <a:gd name="adj1" fmla="val 0"/>
                <a:gd name="adj2" fmla="val 533575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0107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85D97-B392-2A05-4D08-FF9ECE7C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103AE-1A62-BD1F-8ED6-BEDF69AA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30</a:t>
            </a:fld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00AAC4-1D00-80BF-66D5-D3A50332EE35}"/>
              </a:ext>
            </a:extLst>
          </p:cNvPr>
          <p:cNvSpPr/>
          <p:nvPr/>
        </p:nvSpPr>
        <p:spPr>
          <a:xfrm>
            <a:off x="3296653" y="1251284"/>
            <a:ext cx="1684421" cy="1684421"/>
          </a:xfrm>
          <a:prstGeom prst="ellipse">
            <a:avLst/>
          </a:prstGeom>
          <a:solidFill>
            <a:schemeClr val="tx1">
              <a:lumMod val="85000"/>
              <a:lumOff val="15000"/>
              <a:alpha val="2512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D82B1EE-1FED-00E2-4CF0-FDE5381890BB}"/>
              </a:ext>
            </a:extLst>
          </p:cNvPr>
          <p:cNvSpPr/>
          <p:nvPr/>
        </p:nvSpPr>
        <p:spPr>
          <a:xfrm>
            <a:off x="4199021" y="1251284"/>
            <a:ext cx="1684421" cy="1684421"/>
          </a:xfrm>
          <a:prstGeom prst="ellipse">
            <a:avLst/>
          </a:prstGeom>
          <a:solidFill>
            <a:schemeClr val="tx1">
              <a:lumMod val="85000"/>
              <a:lumOff val="15000"/>
              <a:alpha val="2512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B5D27-5FD6-68A4-5220-DBF384E4A048}"/>
              </a:ext>
            </a:extLst>
          </p:cNvPr>
          <p:cNvSpPr txBox="1"/>
          <p:nvPr/>
        </p:nvSpPr>
        <p:spPr>
          <a:xfrm>
            <a:off x="2767263" y="1299411"/>
            <a:ext cx="74379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Shape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CCFD57-8182-C57B-CB9B-50E381665100}"/>
              </a:ext>
            </a:extLst>
          </p:cNvPr>
          <p:cNvSpPr txBox="1"/>
          <p:nvPr/>
        </p:nvSpPr>
        <p:spPr>
          <a:xfrm>
            <a:off x="5669039" y="1299410"/>
            <a:ext cx="74058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Shape 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A4538C-F4BF-792D-488C-D0B343E1B16E}"/>
              </a:ext>
            </a:extLst>
          </p:cNvPr>
          <p:cNvCxnSpPr>
            <a:cxnSpLocks/>
          </p:cNvCxnSpPr>
          <p:nvPr/>
        </p:nvCxnSpPr>
        <p:spPr>
          <a:xfrm flipV="1">
            <a:off x="2213811" y="2093494"/>
            <a:ext cx="1347536" cy="324853"/>
          </a:xfrm>
          <a:prstGeom prst="straightConnector1">
            <a:avLst/>
          </a:prstGeom>
          <a:ln w="19050"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84B595-F9A9-1D20-26C5-2D6E63BCCE41}"/>
              </a:ext>
            </a:extLst>
          </p:cNvPr>
          <p:cNvSpPr txBox="1"/>
          <p:nvPr/>
        </p:nvSpPr>
        <p:spPr>
          <a:xfrm>
            <a:off x="1586908" y="2355819"/>
            <a:ext cx="6269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Point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30E85-3555-F836-84A2-CD176305938D}"/>
              </a:ext>
            </a:extLst>
          </p:cNvPr>
          <p:cNvSpPr txBox="1"/>
          <p:nvPr/>
        </p:nvSpPr>
        <p:spPr>
          <a:xfrm>
            <a:off x="3470896" y="3182779"/>
            <a:ext cx="6269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Point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1B207B-F239-9998-0B27-82C771E12831}"/>
              </a:ext>
            </a:extLst>
          </p:cNvPr>
          <p:cNvCxnSpPr>
            <a:cxnSpLocks/>
          </p:cNvCxnSpPr>
          <p:nvPr/>
        </p:nvCxnSpPr>
        <p:spPr>
          <a:xfrm flipV="1">
            <a:off x="4097799" y="2570747"/>
            <a:ext cx="474201" cy="612032"/>
          </a:xfrm>
          <a:prstGeom prst="straightConnector1">
            <a:avLst/>
          </a:prstGeom>
          <a:ln w="19050"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EA214D7-9AC6-4659-8B62-DB9D07CD300D}"/>
              </a:ext>
            </a:extLst>
          </p:cNvPr>
          <p:cNvSpPr txBox="1"/>
          <p:nvPr/>
        </p:nvSpPr>
        <p:spPr>
          <a:xfrm>
            <a:off x="422304" y="3739426"/>
            <a:ext cx="347592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Intersection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(a.k.a. AND): 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”Point 2 is inside shape A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inside shape B, so Point 2 is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inside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the output shape”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93B715-6DAA-EBF8-451D-B1613594097D}"/>
              </a:ext>
            </a:extLst>
          </p:cNvPr>
          <p:cNvSpPr txBox="1"/>
          <p:nvPr/>
        </p:nvSpPr>
        <p:spPr>
          <a:xfrm>
            <a:off x="422305" y="5199568"/>
            <a:ext cx="347592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Union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(a.k.a. OR): 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”Point 2 is inside shape A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inside shape B, so Point 2 is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inside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the output shape”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246668-0498-7C42-2A22-7B7A24CF78FE}"/>
              </a:ext>
            </a:extLst>
          </p:cNvPr>
          <p:cNvSpPr txBox="1"/>
          <p:nvPr/>
        </p:nvSpPr>
        <p:spPr>
          <a:xfrm>
            <a:off x="4860758" y="4108757"/>
            <a:ext cx="287969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Repeat this logic for every point</a:t>
            </a:r>
          </a:p>
        </p:txBody>
      </p:sp>
    </p:spTree>
    <p:extLst>
      <p:ext uri="{BB962C8B-B14F-4D97-AF65-F5344CB8AC3E}">
        <p14:creationId xmlns:p14="http://schemas.microsoft.com/office/powerpoint/2010/main" val="1379326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7060BF0-A676-57A7-2AA1-764F8751C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649" y="1251904"/>
            <a:ext cx="2469937" cy="515251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047F-9A12-0852-D707-0040EAC0B8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Input: path with a line thickness</a:t>
            </a:r>
          </a:p>
          <a:p>
            <a:r>
              <a:rPr lang="en-US" dirty="0"/>
              <a:t>Output: filled path</a:t>
            </a:r>
          </a:p>
          <a:p>
            <a:r>
              <a:rPr lang="en-US" dirty="0"/>
              <a:t>All graphics need to be </a:t>
            </a:r>
            <a:r>
              <a:rPr lang="en-US" i="1" dirty="0"/>
              <a:t>filled paths</a:t>
            </a:r>
            <a:r>
              <a:rPr lang="en-US" dirty="0"/>
              <a:t> for</a:t>
            </a:r>
          </a:p>
          <a:p>
            <a:pPr lvl="1"/>
            <a:r>
              <a:rPr lang="en-US" dirty="0"/>
              <a:t>Boolean operations</a:t>
            </a:r>
          </a:p>
          <a:p>
            <a:pPr lvl="1"/>
            <a:r>
              <a:rPr lang="en-US" dirty="0"/>
              <a:t>PCB areas</a:t>
            </a:r>
          </a:p>
          <a:p>
            <a:pPr lvl="1"/>
            <a:endParaRPr lang="en-US" dirty="0"/>
          </a:p>
          <a:p>
            <a:r>
              <a:rPr lang="en-US" dirty="0"/>
              <a:t>What do we need to do to process “NYCR-logo-phase-0-downloaded.svg”?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2226DD-A069-FF89-0BB7-ACD238CF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Stroke to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261FB-6F3F-2D59-D48E-263FE463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31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3E6388-9387-39CD-8DC0-453AA31678FC}"/>
              </a:ext>
            </a:extLst>
          </p:cNvPr>
          <p:cNvCxnSpPr/>
          <p:nvPr/>
        </p:nvCxnSpPr>
        <p:spPr>
          <a:xfrm>
            <a:off x="7524206" y="3429000"/>
            <a:ext cx="0" cy="7641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924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4FE8F1-68C4-7D39-96CF-64222939DD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100946" cy="5765782"/>
          </a:xfrm>
        </p:spPr>
        <p:txBody>
          <a:bodyPr/>
          <a:lstStyle/>
          <a:p>
            <a:r>
              <a:rPr lang="en-US" dirty="0"/>
              <a:t>Paths can have multiple separate shapes and holes</a:t>
            </a:r>
          </a:p>
          <a:p>
            <a:r>
              <a:rPr lang="en-US" i="1" dirty="0"/>
              <a:t>Simple</a:t>
            </a:r>
            <a:r>
              <a:rPr lang="en-US" dirty="0"/>
              <a:t> path is one shape with no holes</a:t>
            </a:r>
          </a:p>
          <a:p>
            <a:r>
              <a:rPr lang="en-US" b="1" dirty="0"/>
              <a:t>Decompose</a:t>
            </a:r>
            <a:r>
              <a:rPr lang="en-US" dirty="0"/>
              <a:t> paths with Shift-</a:t>
            </a:r>
            <a:r>
              <a:rPr lang="en-US" dirty="0" err="1"/>
              <a:t>Cmd</a:t>
            </a:r>
            <a:r>
              <a:rPr lang="en-US" dirty="0"/>
              <a:t>-K, Recompose with </a:t>
            </a:r>
            <a:r>
              <a:rPr lang="en-US" dirty="0" err="1"/>
              <a:t>Cmd</a:t>
            </a:r>
            <a:r>
              <a:rPr lang="en-US" dirty="0"/>
              <a:t>-K</a:t>
            </a:r>
          </a:p>
          <a:p>
            <a:r>
              <a:rPr lang="en-US" dirty="0"/>
              <a:t>This is useful if you want to get the outline of a path that contains holes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409DE4-094A-0C8E-0B70-1DE0552A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Decompose/combine paths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013C9-D152-CBB4-5302-80946802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D58B7-AD7F-4E82-CAFF-E3C6DD81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75" y="1019776"/>
            <a:ext cx="3148760" cy="2055803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129675-086B-A927-EF02-6CEB37E16157}"/>
              </a:ext>
            </a:extLst>
          </p:cNvPr>
          <p:cNvSpPr txBox="1"/>
          <p:nvPr/>
        </p:nvSpPr>
        <p:spPr>
          <a:xfrm>
            <a:off x="5490374" y="742930"/>
            <a:ext cx="24509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This is one compound path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AB19F1-1933-22E4-51AD-8E688FC2B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54" y="4037383"/>
            <a:ext cx="3157435" cy="2012431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53E789-1F12-887F-F376-307340851EAD}"/>
              </a:ext>
            </a:extLst>
          </p:cNvPr>
          <p:cNvSpPr txBox="1"/>
          <p:nvPr/>
        </p:nvSpPr>
        <p:spPr>
          <a:xfrm>
            <a:off x="5560618" y="3763880"/>
            <a:ext cx="231050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This is three simple paths</a:t>
            </a:r>
          </a:p>
        </p:txBody>
      </p:sp>
    </p:spTree>
    <p:extLst>
      <p:ext uri="{BB962C8B-B14F-4D97-AF65-F5344CB8AC3E}">
        <p14:creationId xmlns:p14="http://schemas.microsoft.com/office/powerpoint/2010/main" val="1383259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B3D4420-3D34-A9F9-1A22-76ACB9487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135" y="3325054"/>
            <a:ext cx="4180998" cy="307936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8C1314-FBB3-BDF2-9CB9-F708E438A9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0"/>
            <a:ext cx="4572000" cy="2501193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Outset</a:t>
            </a:r>
            <a:r>
              <a:rPr lang="en-US" dirty="0"/>
              <a:t> = Expand the shape outwards</a:t>
            </a:r>
          </a:p>
          <a:p>
            <a:r>
              <a:rPr lang="en-US" dirty="0"/>
              <a:t>This is useful for generating outlines and overlaps</a:t>
            </a:r>
          </a:p>
          <a:p>
            <a:r>
              <a:rPr lang="en-US" i="1" dirty="0"/>
              <a:t>Stroke to path</a:t>
            </a:r>
            <a:r>
              <a:rPr lang="en-US" dirty="0"/>
              <a:t> = outset, then subtract inside to get outline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3151A7-CEDE-7092-F373-492C943C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Inset/outset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C3869-B4D9-342D-A5AE-A4D5D93F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84485-C991-500E-673B-B51FD6A20279}"/>
              </a:ext>
            </a:extLst>
          </p:cNvPr>
          <p:cNvSpPr txBox="1"/>
          <p:nvPr/>
        </p:nvSpPr>
        <p:spPr>
          <a:xfrm>
            <a:off x="3363431" y="4077649"/>
            <a:ext cx="4700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Scale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9E0B8-D8DB-306A-504D-046F2614562A}"/>
              </a:ext>
            </a:extLst>
          </p:cNvPr>
          <p:cNvSpPr txBox="1"/>
          <p:nvPr/>
        </p:nvSpPr>
        <p:spPr>
          <a:xfrm>
            <a:off x="5362216" y="4130003"/>
            <a:ext cx="59631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Outset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8D0F16-4C77-CEBF-52BF-5829DD5F94B2}"/>
              </a:ext>
            </a:extLst>
          </p:cNvPr>
          <p:cNvCxnSpPr/>
          <p:nvPr/>
        </p:nvCxnSpPr>
        <p:spPr>
          <a:xfrm flipH="1">
            <a:off x="3916008" y="4077033"/>
            <a:ext cx="211071" cy="4407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9FB8FC-74B8-B948-71ED-03D207E022FA}"/>
              </a:ext>
            </a:extLst>
          </p:cNvPr>
          <p:cNvCxnSpPr>
            <a:cxnSpLocks/>
          </p:cNvCxnSpPr>
          <p:nvPr/>
        </p:nvCxnSpPr>
        <p:spPr>
          <a:xfrm>
            <a:off x="5151145" y="4130003"/>
            <a:ext cx="269328" cy="3877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B45071-8424-E02F-17DA-547663E75718}"/>
              </a:ext>
            </a:extLst>
          </p:cNvPr>
          <p:cNvCxnSpPr>
            <a:cxnSpLocks/>
          </p:cNvCxnSpPr>
          <p:nvPr/>
        </p:nvCxnSpPr>
        <p:spPr>
          <a:xfrm>
            <a:off x="4533576" y="4077033"/>
            <a:ext cx="38424" cy="16753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38B2AA-E085-2BC3-2EE5-2C8F3CB5B193}"/>
              </a:ext>
            </a:extLst>
          </p:cNvPr>
          <p:cNvSpPr txBox="1"/>
          <p:nvPr/>
        </p:nvSpPr>
        <p:spPr>
          <a:xfrm>
            <a:off x="4641209" y="5311968"/>
            <a:ext cx="128919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Stroke to path</a:t>
            </a:r>
          </a:p>
        </p:txBody>
      </p:sp>
    </p:spTree>
    <p:extLst>
      <p:ext uri="{BB962C8B-B14F-4D97-AF65-F5344CB8AC3E}">
        <p14:creationId xmlns:p14="http://schemas.microsoft.com/office/powerpoint/2010/main" val="24344579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0FA024-55C2-6C70-D7AA-7C58F3E7F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0"/>
            <a:ext cx="4572000" cy="203454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Converts raster to vector path</a:t>
            </a:r>
          </a:p>
          <a:p>
            <a:r>
              <a:rPr lang="en-US" dirty="0"/>
              <a:t>Based on brightness threshold</a:t>
            </a:r>
          </a:p>
          <a:p>
            <a:r>
              <a:rPr lang="en-US" dirty="0"/>
              <a:t>Not a perfect representation!</a:t>
            </a:r>
          </a:p>
          <a:p>
            <a:pPr lvl="1"/>
            <a:r>
              <a:rPr lang="en-US" dirty="0"/>
              <a:t>Usually, you have to fine-tune nodes after converting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22F920-8735-7F05-2A6A-CA79D162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bitmap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DDADE-0F9B-5B97-6461-9980D26E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B3549-FCB4-ACAC-0A42-30C67D4323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0"/>
          <a:stretch>
            <a:fillRect/>
          </a:stretch>
        </p:blipFill>
        <p:spPr>
          <a:xfrm>
            <a:off x="1334393" y="2858402"/>
            <a:ext cx="6685888" cy="339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0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425DA9-4734-04A1-1C34-D577A42FA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5473521" cy="5765782"/>
          </a:xfrm>
        </p:spPr>
        <p:txBody>
          <a:bodyPr/>
          <a:lstStyle/>
          <a:p>
            <a:r>
              <a:rPr lang="en-US" dirty="0"/>
              <a:t>Many free generators are available</a:t>
            </a:r>
          </a:p>
          <a:p>
            <a:pPr lvl="1"/>
            <a:r>
              <a:rPr lang="en-US" dirty="0">
                <a:hlinkClick r:id="rId2"/>
              </a:rPr>
              <a:t>https://www.qr-code-generator.com</a:t>
            </a:r>
            <a:endParaRPr lang="en-US" dirty="0"/>
          </a:p>
          <a:p>
            <a:r>
              <a:rPr lang="en-US" dirty="0"/>
              <a:t>Uncheck “scan tracking”</a:t>
            </a:r>
          </a:p>
          <a:p>
            <a:r>
              <a:rPr lang="en-US" dirty="0"/>
              <a:t>Download SVG, PNG, or JPG or take a screenshot</a:t>
            </a:r>
          </a:p>
          <a:p>
            <a:r>
              <a:rPr lang="en-US" dirty="0"/>
              <a:t>Drag-and-drop into Inkscape</a:t>
            </a:r>
          </a:p>
          <a:p>
            <a:r>
              <a:rPr lang="en-US" dirty="0"/>
              <a:t>Use Trace Bitmap if you used a raster format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23B2D2-C4BF-824B-D030-566D872B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Tip: QR codes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F53E6-D70F-34F7-CB94-E1DA64C2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4E1A7-AB89-5BD7-E4BB-FC34E6561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874" y="1827280"/>
            <a:ext cx="20828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27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CA2FCD-69DA-A342-DE90-1AF7986410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  <a:p>
            <a:pPr lvl="1"/>
            <a:r>
              <a:rPr lang="en-US" dirty="0"/>
              <a:t>Paths</a:t>
            </a:r>
          </a:p>
          <a:p>
            <a:pPr lvl="1"/>
            <a:r>
              <a:rPr lang="en-US" dirty="0"/>
              <a:t>Nodes</a:t>
            </a:r>
          </a:p>
          <a:p>
            <a:pPr lvl="1"/>
            <a:r>
              <a:rPr lang="en-US" dirty="0"/>
              <a:t>Groups</a:t>
            </a:r>
          </a:p>
          <a:p>
            <a:pPr lvl="1"/>
            <a:r>
              <a:rPr lang="en-US" dirty="0"/>
              <a:t>Layers</a:t>
            </a:r>
          </a:p>
          <a:p>
            <a:r>
              <a:rPr lang="en-US" dirty="0"/>
              <a:t>Path operations</a:t>
            </a:r>
          </a:p>
          <a:p>
            <a:pPr lvl="1"/>
            <a:r>
              <a:rPr lang="en-US" dirty="0"/>
              <a:t>Scale</a:t>
            </a:r>
          </a:p>
          <a:p>
            <a:pPr lvl="1"/>
            <a:r>
              <a:rPr lang="en-US" dirty="0"/>
              <a:t>Boolean (AND, OR, XOR)</a:t>
            </a:r>
          </a:p>
          <a:p>
            <a:pPr lvl="1"/>
            <a:r>
              <a:rPr lang="en-US" dirty="0"/>
              <a:t>Inset/outset</a:t>
            </a:r>
          </a:p>
          <a:p>
            <a:pPr lvl="1"/>
            <a:r>
              <a:rPr lang="en-US" dirty="0"/>
              <a:t>Stroke to path</a:t>
            </a:r>
          </a:p>
          <a:p>
            <a:pPr lvl="1"/>
            <a:r>
              <a:rPr lang="en-US" dirty="0"/>
              <a:t>Break/combine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D6C17B-CD8C-FA1F-2052-DF686B08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vector graphics editing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8E398-577C-C3DE-5AF3-822B37B7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57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1392EB-E26D-2290-1407-57D77100B5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5998029" cy="2445311"/>
          </a:xfrm>
        </p:spPr>
        <p:txBody>
          <a:bodyPr/>
          <a:lstStyle/>
          <a:p>
            <a:r>
              <a:rPr lang="en-US" dirty="0"/>
              <a:t>Start: NYCR-logo-phase-0.svg</a:t>
            </a:r>
          </a:p>
          <a:p>
            <a:r>
              <a:rPr lang="en-US" dirty="0"/>
              <a:t>Milestone: NYCR-logo-phase-1.svg</a:t>
            </a:r>
          </a:p>
          <a:p>
            <a:r>
              <a:rPr lang="en-US" dirty="0"/>
              <a:t>End: NYCR-logo-phase-2.svg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8184F6-8DAF-CB0B-9782-D9EB5D02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Asynchronous: Workflow 2:</a:t>
            </a:r>
            <a:br>
              <a:rPr lang="en-US" dirty="0"/>
            </a:br>
            <a:r>
              <a:rPr lang="en-US" dirty="0"/>
              <a:t>SVG editing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1ECE7-6D42-B161-95C3-FCF82ABD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3AEFF2C-B397-0F82-9DC3-6646A356F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74" y="3269172"/>
            <a:ext cx="7772400" cy="30499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12E0C-71F1-6BF0-A326-7A9A48228607}"/>
              </a:ext>
            </a:extLst>
          </p:cNvPr>
          <p:cNvSpPr txBox="1"/>
          <p:nvPr/>
        </p:nvSpPr>
        <p:spPr>
          <a:xfrm>
            <a:off x="5445138" y="1174387"/>
            <a:ext cx="358431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Follow the instructions in 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README.md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Do the example first, then try your own</a:t>
            </a:r>
          </a:p>
        </p:txBody>
      </p:sp>
    </p:spTree>
    <p:extLst>
      <p:ext uri="{BB962C8B-B14F-4D97-AF65-F5344CB8AC3E}">
        <p14:creationId xmlns:p14="http://schemas.microsoft.com/office/powerpoint/2010/main" val="2010694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AE7090-90DE-A4DF-33FD-664026E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aided layout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672FF-8980-B35E-C5C0-23C19A94DF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8513" y="6403975"/>
            <a:ext cx="725487" cy="365125"/>
          </a:xfrm>
        </p:spPr>
        <p:txBody>
          <a:bodyPr/>
          <a:lstStyle/>
          <a:p>
            <a:fld id="{A1CE482F-FCB4-614E-8004-33C88C9952E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53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F5DC68-881E-4FD8-5701-5B664779D1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B776E2-8B03-4CF0-25ED-5DB3B2DC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fashioned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7487-6BD0-1D1D-E7F2-DC180E7A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C6592-6B4C-6C62-4673-68B6F2B3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24339" y="1375220"/>
            <a:ext cx="7772400" cy="502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41BBB7-7174-D925-720E-0CD90ADEF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7" y="653360"/>
            <a:ext cx="1674745" cy="21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923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AF7978-DEDB-5F4F-F401-CC46B1BA2A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4EBEE2-2020-010E-0892-34A75DF6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Rubylith</a:t>
            </a:r>
            <a:r>
              <a:rPr lang="en-US" dirty="0"/>
              <a:t> period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A733D-A0EC-A769-1B16-63B2FE33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92910-EDE2-8C5F-59D9-47A244C429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463" y="1203239"/>
            <a:ext cx="7151074" cy="49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70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8589-9357-E745-CE2C-C449DF1289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aided design (CAD)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28040" y="2033922"/>
            <a:ext cx="3663269" cy="3606800"/>
            <a:chOff x="3573924" y="889000"/>
            <a:chExt cx="5080000" cy="50800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3924" y="889000"/>
              <a:ext cx="5080000" cy="50800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5984965" y="5362117"/>
              <a:ext cx="2668959" cy="6068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1400" dirty="0">
                  <a:latin typeface="Avenir Next" charset="0"/>
                  <a:ea typeface="Avenir Next" charset="0"/>
                  <a:cs typeface="Avenir Next" charset="0"/>
                </a:rPr>
                <a:t>Mainframe CAD system</a:t>
              </a:r>
            </a:p>
            <a:p>
              <a:pPr algn="r"/>
              <a:r>
                <a:rPr lang="en-US" sz="1400" dirty="0">
                  <a:latin typeface="Avenir Next" charset="0"/>
                  <a:ea typeface="Avenir Next" charset="0"/>
                  <a:cs typeface="Avenir Next" charset="0"/>
                </a:rPr>
                <a:t>IBM, Fairchild, 1967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39708" y="2033922"/>
            <a:ext cx="4782619" cy="3606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85661" y="5209835"/>
            <a:ext cx="163666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400" dirty="0" err="1">
                <a:latin typeface="Avenir Next" charset="0"/>
                <a:ea typeface="Avenir Next" charset="0"/>
                <a:cs typeface="Avenir Next" charset="0"/>
              </a:rPr>
              <a:t>Calma</a:t>
            </a:r>
            <a:r>
              <a:rPr lang="en-US" sz="1400" dirty="0">
                <a:latin typeface="Avenir Next" charset="0"/>
                <a:ea typeface="Avenir Next" charset="0"/>
                <a:cs typeface="Avenir Next" charset="0"/>
              </a:rPr>
              <a:t> Dimension III</a:t>
            </a:r>
          </a:p>
          <a:p>
            <a:pPr algn="r"/>
            <a:r>
              <a:rPr lang="en-US" sz="1400" dirty="0" err="1">
                <a:latin typeface="Avenir Next" charset="0"/>
                <a:ea typeface="Avenir Next" charset="0"/>
                <a:cs typeface="Avenir Next" charset="0"/>
              </a:rPr>
              <a:t>Calma</a:t>
            </a:r>
            <a:r>
              <a:rPr lang="en-US" sz="1400" dirty="0">
                <a:latin typeface="Avenir Next" charset="0"/>
                <a:ea typeface="Avenir Next" charset="0"/>
                <a:cs typeface="Avenir Next" charset="0"/>
              </a:rPr>
              <a:t> Inc., 1985</a:t>
            </a:r>
          </a:p>
        </p:txBody>
      </p:sp>
    </p:spTree>
    <p:extLst>
      <p:ext uri="{BB962C8B-B14F-4D97-AF65-F5344CB8AC3E}">
        <p14:creationId xmlns:p14="http://schemas.microsoft.com/office/powerpoint/2010/main" val="2331143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25B92-4FF0-63E1-22C3-C5BD26B82B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Modern circuit + layout design</a:t>
            </a:r>
          </a:p>
          <a:p>
            <a:r>
              <a:rPr lang="en-US" dirty="0"/>
              <a:t>Commercial: Altium</a:t>
            </a:r>
          </a:p>
          <a:p>
            <a:r>
              <a:rPr lang="en-US" dirty="0"/>
              <a:t>Open-source: </a:t>
            </a:r>
            <a:r>
              <a:rPr lang="en-US" dirty="0" err="1"/>
              <a:t>Kicad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139C06-169F-3F52-FA4A-BD26688E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computer aided design (CAD)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CDC3-23BE-6C09-0DE8-1DA20154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131F5-20BA-968F-1A5F-C144A2C55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81" y="5024669"/>
            <a:ext cx="934132" cy="1290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2E8054-1BBA-8A02-D8DA-632F7C8F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361" y="823861"/>
            <a:ext cx="3420535" cy="3199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EC6B67-D98D-1E21-E6F8-1CD7B1F17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014" y="4091607"/>
            <a:ext cx="3625882" cy="26779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BBB039-1795-9DE9-8434-E5B7A634B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127" y="4967134"/>
            <a:ext cx="1004455" cy="13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30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3A0961-5097-62EC-243B-DB1B9806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92F6CE-18C1-BC16-F723-07CFAA30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pcbnew</a:t>
            </a:r>
            <a:r>
              <a:rPr lang="en-US" dirty="0"/>
              <a:t>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8B153-95BC-A713-5772-7AA5DBA1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27" y="5206025"/>
            <a:ext cx="1004455" cy="1362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64FEB7-F32D-7A7C-F168-07BA4C1FB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91" y="904514"/>
            <a:ext cx="7065818" cy="5048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47B325-CDB6-154A-26D0-16C9E93F4AFB}"/>
              </a:ext>
            </a:extLst>
          </p:cNvPr>
          <p:cNvSpPr txBox="1"/>
          <p:nvPr/>
        </p:nvSpPr>
        <p:spPr>
          <a:xfrm>
            <a:off x="7813706" y="2479624"/>
            <a:ext cx="111857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Layer browser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D465C-0CB1-9051-1C5F-4B793189BE03}"/>
              </a:ext>
            </a:extLst>
          </p:cNvPr>
          <p:cNvSpPr txBox="1"/>
          <p:nvPr/>
        </p:nvSpPr>
        <p:spPr>
          <a:xfrm>
            <a:off x="358806" y="2695068"/>
            <a:ext cx="9893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Unit selector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397CD-C2F3-34AC-7593-9A819C7CDDB2}"/>
              </a:ext>
            </a:extLst>
          </p:cNvPr>
          <p:cNvSpPr txBox="1"/>
          <p:nvPr/>
        </p:nvSpPr>
        <p:spPr>
          <a:xfrm>
            <a:off x="5781706" y="1420670"/>
            <a:ext cx="1318374" cy="215444"/>
          </a:xfrm>
          <a:prstGeom prst="rect">
            <a:avLst/>
          </a:prstGeom>
          <a:solidFill>
            <a:schemeClr val="bg1">
              <a:alpha val="49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Grid controls (N)</a:t>
            </a:r>
          </a:p>
        </p:txBody>
      </p:sp>
    </p:spTree>
    <p:extLst>
      <p:ext uri="{BB962C8B-B14F-4D97-AF65-F5344CB8AC3E}">
        <p14:creationId xmlns:p14="http://schemas.microsoft.com/office/powerpoint/2010/main" val="21190405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EB1D30-77AA-BAE8-F671-CF3BC159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CAD enable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1CA6B-C36F-2D90-951A-B40F7C2C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 descr="Close-up of a chip&#10;&#10;Description automatically generated">
            <a:extLst>
              <a:ext uri="{FF2B5EF4-FFF2-40B4-BE49-F238E27FC236}">
                <a16:creationId xmlns:a16="http://schemas.microsoft.com/office/drawing/2014/main" id="{8E5CAA7B-3ADA-158B-636A-303693240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6" y="2295537"/>
            <a:ext cx="7772400" cy="437197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A02EA7-2D3E-099E-38D0-F5401349C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8414658" cy="1471676"/>
          </a:xfrm>
        </p:spPr>
        <p:txBody>
          <a:bodyPr/>
          <a:lstStyle/>
          <a:p>
            <a:r>
              <a:rPr lang="en-US" dirty="0"/>
              <a:t>These CAD layout programs have revolutionized all of our electronic chips and boards,</a:t>
            </a:r>
          </a:p>
          <a:p>
            <a:r>
              <a:rPr lang="en-US" dirty="0"/>
              <a:t>They allow for more complex circuitry per square 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A01FA-23E8-0345-DA32-A42525D4CE6A}"/>
              </a:ext>
            </a:extLst>
          </p:cNvPr>
          <p:cNvSpPr txBox="1"/>
          <p:nvPr/>
        </p:nvSpPr>
        <p:spPr>
          <a:xfrm>
            <a:off x="4873143" y="6373464"/>
            <a:ext cx="3387209" cy="246221"/>
          </a:xfrm>
          <a:prstGeom prst="rect">
            <a:avLst/>
          </a:prstGeom>
          <a:solidFill>
            <a:schemeClr val="bg1">
              <a:alpha val="57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iPhone dissected in 2019 (c) Alex Tait</a:t>
            </a:r>
          </a:p>
        </p:txBody>
      </p:sp>
    </p:spTree>
    <p:extLst>
      <p:ext uri="{BB962C8B-B14F-4D97-AF65-F5344CB8AC3E}">
        <p14:creationId xmlns:p14="http://schemas.microsoft.com/office/powerpoint/2010/main" val="38411052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7640-22D7-5304-2FFD-151A00D1B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dirty="0"/>
              <a:t>Converting multi-layer graphics</a:t>
            </a:r>
          </a:p>
        </p:txBody>
      </p:sp>
      <p:pic>
        <p:nvPicPr>
          <p:cNvPr id="9" name="Picture 8" descr="A blue and green circular object with a blue and green design&#10;&#10;Description automatically generated">
            <a:extLst>
              <a:ext uri="{FF2B5EF4-FFF2-40B4-BE49-F238E27FC236}">
                <a16:creationId xmlns:a16="http://schemas.microsoft.com/office/drawing/2014/main" id="{C9BA4072-467B-42A6-DE70-3CEDEC3D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947637" y="4064720"/>
            <a:ext cx="2429768" cy="2403686"/>
          </a:xfrm>
          <a:prstGeom prst="rect">
            <a:avLst/>
          </a:prstGeom>
        </p:spPr>
      </p:pic>
      <p:pic>
        <p:nvPicPr>
          <p:cNvPr id="11" name="Picture 10" descr="A black circle with a yellow dragon and a white tiger&#10;&#10;Description automatically generated">
            <a:extLst>
              <a:ext uri="{FF2B5EF4-FFF2-40B4-BE49-F238E27FC236}">
                <a16:creationId xmlns:a16="http://schemas.microsoft.com/office/drawing/2014/main" id="{E1F15DEA-9529-AAE2-2FA2-F8ED431BA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66585" y="4143843"/>
            <a:ext cx="2814205" cy="22454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87E407-E1EC-C69E-6A40-64693DF35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1" y="4000500"/>
            <a:ext cx="2654326" cy="272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137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55185B-4F18-FA13-54E9-F40A9A5F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 Layers </a:t>
            </a:r>
            <a:r>
              <a:rPr lang="en-US" i="1" dirty="0"/>
              <a:t>for PCB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2B82-03E5-0632-33E9-7916BC27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46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1970C1-19E0-FC41-874C-3EB5A6ED2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887686" cy="5097968"/>
          </a:xfrm>
        </p:spPr>
        <p:txBody>
          <a:bodyPr>
            <a:normAutofit/>
          </a:bodyPr>
          <a:lstStyle/>
          <a:p>
            <a:r>
              <a:rPr lang="en-US" i="1" dirty="0"/>
              <a:t>SVG layers correspond to PCB CAD layers</a:t>
            </a:r>
          </a:p>
          <a:p>
            <a:r>
              <a:rPr lang="en-US" dirty="0" err="1"/>
              <a:t>F.x</a:t>
            </a:r>
            <a:r>
              <a:rPr lang="en-US" dirty="0"/>
              <a:t> (front) </a:t>
            </a:r>
            <a:r>
              <a:rPr lang="en-US" dirty="0" err="1"/>
              <a:t>B.x</a:t>
            </a:r>
            <a:r>
              <a:rPr lang="en-US" dirty="0"/>
              <a:t> (back)</a:t>
            </a:r>
          </a:p>
          <a:p>
            <a:r>
              <a:rPr lang="en-US" dirty="0" err="1"/>
              <a:t>x.Cu</a:t>
            </a:r>
            <a:r>
              <a:rPr lang="en-US" dirty="0"/>
              <a:t> = copper</a:t>
            </a:r>
          </a:p>
          <a:p>
            <a:r>
              <a:rPr lang="en-US" dirty="0"/>
              <a:t>So </a:t>
            </a:r>
            <a:r>
              <a:rPr lang="en-US" b="1" dirty="0" err="1"/>
              <a:t>F.Cu</a:t>
            </a:r>
            <a:r>
              <a:rPr lang="en-US" b="1" dirty="0"/>
              <a:t> = front copper</a:t>
            </a:r>
          </a:p>
          <a:p>
            <a:endParaRPr lang="en-US" dirty="0"/>
          </a:p>
          <a:p>
            <a:r>
              <a:rPr lang="en-US" dirty="0"/>
              <a:t>Tips</a:t>
            </a:r>
          </a:p>
          <a:p>
            <a:pPr lvl="1"/>
            <a:r>
              <a:rPr lang="en-US" dirty="0"/>
              <a:t>Shapes on Mask layers will be </a:t>
            </a:r>
            <a:r>
              <a:rPr lang="en-US" u="sng" dirty="0"/>
              <a:t>openings</a:t>
            </a:r>
            <a:r>
              <a:rPr lang="en-US" dirty="0"/>
              <a:t> in the solder mask</a:t>
            </a:r>
          </a:p>
          <a:p>
            <a:pPr lvl="1"/>
            <a:r>
              <a:rPr lang="en-US" dirty="0"/>
              <a:t>Inkscape “</a:t>
            </a:r>
            <a:r>
              <a:rPr lang="en-US" dirty="0" err="1"/>
              <a:t>SilkS</a:t>
            </a:r>
            <a:r>
              <a:rPr lang="en-US" dirty="0"/>
              <a:t>”, not “Silkscreen”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AE45ED-2C9F-8DDD-314B-9CD965D0EA6E}"/>
              </a:ext>
            </a:extLst>
          </p:cNvPr>
          <p:cNvGrpSpPr/>
          <p:nvPr/>
        </p:nvGrpSpPr>
        <p:grpSpPr>
          <a:xfrm>
            <a:off x="5988090" y="1058581"/>
            <a:ext cx="1970772" cy="2589336"/>
            <a:chOff x="5988089" y="1058581"/>
            <a:chExt cx="2315807" cy="30426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08FC1B6-74D1-8670-A989-8F8E95239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88089" y="1058581"/>
              <a:ext cx="2315807" cy="304266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460D0F-E5A9-1FE2-95A2-F7C7D043B495}"/>
                </a:ext>
              </a:extLst>
            </p:cNvPr>
            <p:cNvSpPr/>
            <p:nvPr/>
          </p:nvSpPr>
          <p:spPr>
            <a:xfrm>
              <a:off x="5988089" y="1676400"/>
              <a:ext cx="2315807" cy="1186543"/>
            </a:xfrm>
            <a:prstGeom prst="rect">
              <a:avLst/>
            </a:prstGeom>
            <a:solidFill>
              <a:schemeClr val="bg1">
                <a:lumMod val="85000"/>
                <a:alpha val="94743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</p:grp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762BE716-2573-94F4-310E-EA803D0B9D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66" t="39624" r="29379" b="24642"/>
          <a:stretch/>
        </p:blipFill>
        <p:spPr>
          <a:xfrm>
            <a:off x="6013346" y="3992761"/>
            <a:ext cx="1939636" cy="23539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DB291A-E9A0-1BA4-15EB-C1CAFFAEF8D2}"/>
              </a:ext>
            </a:extLst>
          </p:cNvPr>
          <p:cNvSpPr txBox="1"/>
          <p:nvPr/>
        </p:nvSpPr>
        <p:spPr>
          <a:xfrm>
            <a:off x="6389914" y="757396"/>
            <a:ext cx="101207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From 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Kicad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D3299-E206-D451-5F5F-D799C402CFD7}"/>
              </a:ext>
            </a:extLst>
          </p:cNvPr>
          <p:cNvSpPr txBox="1"/>
          <p:nvPr/>
        </p:nvSpPr>
        <p:spPr>
          <a:xfrm>
            <a:off x="6283347" y="3737701"/>
            <a:ext cx="133645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From Inkscape</a:t>
            </a:r>
          </a:p>
        </p:txBody>
      </p:sp>
    </p:spTree>
    <p:extLst>
      <p:ext uri="{BB962C8B-B14F-4D97-AF65-F5344CB8AC3E}">
        <p14:creationId xmlns:p14="http://schemas.microsoft.com/office/powerpoint/2010/main" val="24090686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2735FC-22C9-1172-1621-12CE77802B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group of files, each one with one Inkscape layer </a:t>
            </a:r>
          </a:p>
          <a:p>
            <a:r>
              <a:rPr lang="en-US" dirty="0"/>
              <a:t>Import each file to a different </a:t>
            </a:r>
            <a:r>
              <a:rPr lang="en-US" dirty="0" err="1"/>
              <a:t>Kicad</a:t>
            </a:r>
            <a:r>
              <a:rPr lang="en-US" dirty="0"/>
              <a:t> layer</a:t>
            </a:r>
          </a:p>
          <a:p>
            <a:r>
              <a:rPr lang="en-US" dirty="0"/>
              <a:t>Align the shapes on different layers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C5F41D-48A8-A272-1B45-3FA0E8E9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step (old way)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15FDA-9C21-9195-E01B-77934152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0098A-087B-AE4A-EC1B-EB70FBAA6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39853"/>
            <a:ext cx="4387317" cy="313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47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03D2C8-05AA-2DE3-EF94-89BA44635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4272459"/>
          </a:xfrm>
        </p:spPr>
        <p:txBody>
          <a:bodyPr/>
          <a:lstStyle/>
          <a:p>
            <a:r>
              <a:rPr lang="en-US" dirty="0"/>
              <a:t>Use a terminal</a:t>
            </a:r>
          </a:p>
          <a:p>
            <a:r>
              <a:rPr lang="en-US" dirty="0"/>
              <a:t>Configure a python environment</a:t>
            </a:r>
          </a:p>
          <a:p>
            <a:r>
              <a:rPr lang="en-US" dirty="0"/>
              <a:t>Install svg2mod through pip</a:t>
            </a:r>
          </a:p>
          <a:p>
            <a:r>
              <a:rPr lang="en-US" dirty="0"/>
              <a:t>Use –h option for help</a:t>
            </a:r>
          </a:p>
          <a:p>
            <a:r>
              <a:rPr lang="en-US" dirty="0"/>
              <a:t>...Figure out the rest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6B5EA8-FF33-3C6E-7B55-A0968B52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step (recent way)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912F-9E87-EF6D-75AB-B95EA971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6E690-396C-000E-16D1-6C6BC80A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471" y="2357643"/>
            <a:ext cx="4084793" cy="3256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613CB3-4850-41EC-F500-55A676A19D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87" b="96131"/>
          <a:stretch/>
        </p:blipFill>
        <p:spPr>
          <a:xfrm>
            <a:off x="4733471" y="1705184"/>
            <a:ext cx="3640622" cy="257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8C1BBA-61E5-D26F-B679-A0D8F950A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59" y="5096320"/>
            <a:ext cx="8255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67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32FB0B-04B0-35B2-CB3A-7E85C2E202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428999"/>
            <a:ext cx="4078014" cy="3160643"/>
          </a:xfrm>
        </p:spPr>
        <p:txBody>
          <a:bodyPr>
            <a:normAutofit/>
          </a:bodyPr>
          <a:lstStyle/>
          <a:p>
            <a:r>
              <a:rPr lang="en-US" sz="2000" dirty="0"/>
              <a:t>Skip the terminal. This runs it for you.</a:t>
            </a:r>
          </a:p>
          <a:p>
            <a:r>
              <a:rPr lang="en-US" sz="2000" dirty="0"/>
              <a:t>Files don’t leave your computer (</a:t>
            </a:r>
            <a:r>
              <a:rPr lang="en-US" sz="2000" dirty="0" err="1"/>
              <a:t>Pyodide</a:t>
            </a:r>
            <a:r>
              <a:rPr lang="en-US" sz="2000" dirty="0"/>
              <a:t> runtime)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292EAA-B694-05D0-1B98-F0826400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step (new way)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D5679-673A-3783-055C-6B2E2DD4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B4111-E601-5473-9FA2-FD1E9288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850" y="623455"/>
            <a:ext cx="5336196" cy="6234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AA9E2A-956D-AC2E-A6AE-6F3F130324FC}"/>
              </a:ext>
            </a:extLst>
          </p:cNvPr>
          <p:cNvSpPr txBox="1"/>
          <p:nvPr/>
        </p:nvSpPr>
        <p:spPr>
          <a:xfrm>
            <a:off x="323868" y="1017115"/>
            <a:ext cx="356847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  <a:hlinkClick r:id="rId3"/>
              </a:rPr>
              <a:t>taitphotonlab.com/apps/svg2kicad.html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D509F5-B21C-98ED-7CC6-17F794A8D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34" y="1370008"/>
            <a:ext cx="2872051" cy="288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409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DA1687-0D60-24E1-9D47-A5665205A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1549399"/>
            <a:ext cx="5352094" cy="5040243"/>
          </a:xfrm>
        </p:spPr>
        <p:txBody>
          <a:bodyPr>
            <a:normAutofit/>
          </a:bodyPr>
          <a:lstStyle/>
          <a:p>
            <a:r>
              <a:rPr lang="en-US" sz="2000" dirty="0" err="1"/>
              <a:t>Pcbnew</a:t>
            </a:r>
            <a:r>
              <a:rPr lang="en-US" sz="2000" dirty="0"/>
              <a:t> layouts contain </a:t>
            </a:r>
            <a:r>
              <a:rPr lang="en-US" sz="2000" i="1" dirty="0"/>
              <a:t>references</a:t>
            </a:r>
            <a:r>
              <a:rPr lang="en-US" sz="2000" dirty="0"/>
              <a:t> to footprints</a:t>
            </a:r>
          </a:p>
          <a:p>
            <a:r>
              <a:rPr lang="en-US" sz="2000" dirty="0"/>
              <a:t>We need to tell it where to find the files</a:t>
            </a:r>
          </a:p>
          <a:p>
            <a:pPr lvl="1"/>
            <a:r>
              <a:rPr lang="en-US" sz="1800" dirty="0"/>
              <a:t>Make it project specific</a:t>
            </a:r>
          </a:p>
          <a:p>
            <a:pPr lvl="1"/>
            <a:r>
              <a:rPr lang="en-US" sz="1800" dirty="0"/>
              <a:t>Use a relative path (automatic)</a:t>
            </a:r>
          </a:p>
          <a:p>
            <a:r>
              <a:rPr lang="en-US" sz="2000" dirty="0"/>
              <a:t>Our files are</a:t>
            </a:r>
          </a:p>
          <a:p>
            <a:pPr lvl="1"/>
            <a:r>
              <a:rPr lang="en-US" sz="1800" dirty="0"/>
              <a:t>Library </a:t>
            </a:r>
            <a:r>
              <a:rPr lang="en-US" sz="1800" dirty="0" err="1">
                <a:latin typeface="Monaco" pitchFamily="2" charset="77"/>
              </a:rPr>
              <a:t>nycr-logo.pretty</a:t>
            </a:r>
            <a:r>
              <a:rPr lang="en-US" sz="1800" dirty="0">
                <a:latin typeface="Monaco" pitchFamily="2" charset="77"/>
              </a:rPr>
              <a:t>/</a:t>
            </a:r>
          </a:p>
          <a:p>
            <a:pPr lvl="1"/>
            <a:r>
              <a:rPr lang="en-US" sz="1800" dirty="0"/>
              <a:t>Footprint </a:t>
            </a:r>
            <a:r>
              <a:rPr lang="en-US" sz="1800" dirty="0" err="1">
                <a:latin typeface="Monaco" pitchFamily="2" charset="77"/>
              </a:rPr>
              <a:t>NYCR-logo.kicad_mod</a:t>
            </a:r>
            <a:endParaRPr lang="en-US" sz="1800" dirty="0">
              <a:latin typeface="Monaco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1EA61A-B1D2-E037-753D-7E000D3C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Footprint libraries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01B72-F588-1BC7-8448-D64711A8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3C6E17E-11D0-DD98-9284-254084FDAC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901"/>
          <a:stretch/>
        </p:blipFill>
        <p:spPr>
          <a:xfrm>
            <a:off x="5352093" y="1009079"/>
            <a:ext cx="2823078" cy="4839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FE91CC-5192-4E99-641C-FD5FDC331A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754"/>
          <a:stretch>
            <a:fillRect/>
          </a:stretch>
        </p:blipFill>
        <p:spPr>
          <a:xfrm>
            <a:off x="1065455" y="5682003"/>
            <a:ext cx="3221182" cy="438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82AA26-95D6-D988-0837-AD2B0F782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257" y="823861"/>
            <a:ext cx="2844380" cy="153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94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25C27D-A05A-D288-72E5-6F2CDD78F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2221380"/>
          </a:xfrm>
        </p:spPr>
        <p:txBody>
          <a:bodyPr/>
          <a:lstStyle/>
          <a:p>
            <a:r>
              <a:rPr lang="en-US" dirty="0"/>
              <a:t>Quit and reopen </a:t>
            </a:r>
            <a:r>
              <a:rPr lang="en-US" dirty="0" err="1"/>
              <a:t>pcbnew</a:t>
            </a:r>
            <a:endParaRPr lang="en-US" dirty="0"/>
          </a:p>
          <a:p>
            <a:r>
              <a:rPr lang="en-US" dirty="0"/>
              <a:t>Press “A” (add footprint)</a:t>
            </a:r>
          </a:p>
          <a:p>
            <a:r>
              <a:rPr lang="en-US" dirty="0"/>
              <a:t>It should show up like this in the newly added library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F2D695-3F30-96D4-E720-750C405E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Placing the footprint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411EC-D6F9-3ACA-5A15-6F70D4CA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ECE8BDD-7BB0-CE36-E219-1AE309D8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6" y="2847484"/>
            <a:ext cx="7772400" cy="354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19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7AEFF1-DA96-2BD8-BE11-32B42216EA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02560"/>
            <a:ext cx="6362700" cy="2178740"/>
          </a:xfrm>
        </p:spPr>
        <p:txBody>
          <a:bodyPr>
            <a:normAutofit/>
          </a:bodyPr>
          <a:lstStyle/>
          <a:p>
            <a:r>
              <a:rPr lang="en-US" sz="1800" dirty="0"/>
              <a:t>Select layer </a:t>
            </a:r>
            <a:r>
              <a:rPr lang="en-US" sz="1800" dirty="0" err="1"/>
              <a:t>Edge.Cuts</a:t>
            </a:r>
            <a:endParaRPr lang="en-US" sz="1800" dirty="0"/>
          </a:p>
          <a:p>
            <a:r>
              <a:rPr lang="en-US" sz="1800" dirty="0"/>
              <a:t>Click the square tool</a:t>
            </a:r>
          </a:p>
          <a:p>
            <a:r>
              <a:rPr lang="en-US" sz="1800" dirty="0"/>
              <a:t>Click on the corners</a:t>
            </a:r>
          </a:p>
          <a:p>
            <a:r>
              <a:rPr lang="en-US" sz="1800" dirty="0"/>
              <a:t>Resize in the properties dialog (“E”)</a:t>
            </a:r>
          </a:p>
          <a:p>
            <a:r>
              <a:rPr lang="en-US" sz="1800" dirty="0"/>
              <a:t>Right-click &gt; Shape Modification &gt; Fillet Lines...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718DC4-CB64-155D-F0EA-E8E3C2A61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the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1F615-AA21-621F-CF4F-AD115DAF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70C8C-F1D6-74F8-1250-1728BA41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0" y="2832100"/>
            <a:ext cx="558800" cy="43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0A4D4-2129-D10D-97A2-E185D9EC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6" y="2515395"/>
            <a:ext cx="7772400" cy="434260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75C753-5DD3-21D5-7080-BF92FF47D249}"/>
              </a:ext>
            </a:extLst>
          </p:cNvPr>
          <p:cNvCxnSpPr>
            <a:cxnSpLocks/>
          </p:cNvCxnSpPr>
          <p:nvPr/>
        </p:nvCxnSpPr>
        <p:spPr>
          <a:xfrm flipH="1">
            <a:off x="5753100" y="2400300"/>
            <a:ext cx="1104900" cy="1219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A2E1B0-A879-D053-FC5F-507CE11840FA}"/>
              </a:ext>
            </a:extLst>
          </p:cNvPr>
          <p:cNvCxnSpPr>
            <a:cxnSpLocks/>
          </p:cNvCxnSpPr>
          <p:nvPr/>
        </p:nvCxnSpPr>
        <p:spPr>
          <a:xfrm flipH="1">
            <a:off x="5257800" y="3918640"/>
            <a:ext cx="1104900" cy="1219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88F475-86B6-DD98-BE34-58A8E352F53E}"/>
              </a:ext>
            </a:extLst>
          </p:cNvPr>
          <p:cNvCxnSpPr>
            <a:cxnSpLocks/>
          </p:cNvCxnSpPr>
          <p:nvPr/>
        </p:nvCxnSpPr>
        <p:spPr>
          <a:xfrm flipH="1">
            <a:off x="1231900" y="3352800"/>
            <a:ext cx="202248" cy="1905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FFFD31-DBCA-2FB8-97FD-F9006B0B5329}"/>
              </a:ext>
            </a:extLst>
          </p:cNvPr>
          <p:cNvCxnSpPr>
            <a:cxnSpLocks/>
          </p:cNvCxnSpPr>
          <p:nvPr/>
        </p:nvCxnSpPr>
        <p:spPr>
          <a:xfrm flipH="1">
            <a:off x="3721100" y="5562600"/>
            <a:ext cx="202248" cy="1905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5537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E6FA3E-8802-4B6C-4C2E-D12DB18C81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7630688" cy="5765782"/>
          </a:xfrm>
        </p:spPr>
        <p:txBody>
          <a:bodyPr>
            <a:normAutofit/>
          </a:bodyPr>
          <a:lstStyle/>
          <a:p>
            <a:r>
              <a:rPr lang="en-US" dirty="0"/>
              <a:t>To iterate means going from start (SVG file) to finish (3D view), then revising</a:t>
            </a:r>
          </a:p>
          <a:p>
            <a:r>
              <a:rPr lang="en-US" u="sng" dirty="0"/>
              <a:t>Iterate often</a:t>
            </a:r>
            <a:r>
              <a:rPr lang="en-US" dirty="0"/>
              <a:t>, before perfecting</a:t>
            </a:r>
          </a:p>
          <a:p>
            <a:r>
              <a:rPr lang="en-US" dirty="0"/>
              <a:t>Our iteration cycle step-by-step: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Make changes in Inkscape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Save the SVG file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Run svg2mod (</a:t>
            </a:r>
            <a:r>
              <a:rPr lang="en-US" dirty="0">
                <a:ea typeface="Avenir Next" charset="0"/>
                <a:cs typeface="Times New Roman" panose="02020603050405020304" pitchFamily="18" charset="0"/>
                <a:hlinkClick r:id="rId2"/>
              </a:rPr>
              <a:t>taitphotonlab.com/apps/svg2kicad.html</a:t>
            </a:r>
            <a:r>
              <a:rPr lang="en-US" dirty="0">
                <a:ea typeface="Avenir Next" charset="0"/>
                <a:cs typeface="Times New Roman" panose="02020603050405020304" pitchFamily="18" charset="0"/>
              </a:rPr>
              <a:t>)</a:t>
            </a:r>
            <a:endParaRPr lang="en-US" dirty="0"/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Move file into “.pretty” folder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b="1" dirty="0"/>
              <a:t>Quit and reopen</a:t>
            </a:r>
            <a:r>
              <a:rPr lang="en-US" dirty="0"/>
              <a:t> `</a:t>
            </a:r>
            <a:r>
              <a:rPr lang="en-US" dirty="0" err="1"/>
              <a:t>pcbnew.app</a:t>
            </a:r>
            <a:r>
              <a:rPr lang="en-US" dirty="0"/>
              <a:t>` 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Add component (hotkey: `A`)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Find your component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3D view (hotkey: `Opt-3`)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Review the 3D model and make further adjustments in Inkscape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9ACFA2-4F15-5507-F64B-FE8C6136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E7E93-8C58-253D-84B8-9733E30C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128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8AF2F98-9E59-8820-E522-BCED98023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41" y="3276945"/>
            <a:ext cx="4387317" cy="358105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1392EB-E26D-2290-1407-57D77100B5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715001"/>
            <a:ext cx="7151915" cy="2445311"/>
          </a:xfrm>
        </p:spPr>
        <p:txBody>
          <a:bodyPr/>
          <a:lstStyle/>
          <a:p>
            <a:r>
              <a:rPr lang="en-US" dirty="0"/>
              <a:t>Start: NYCR-logo-phase-2.</a:t>
            </a:r>
            <a:r>
              <a:rPr lang="en-US" b="1" dirty="0"/>
              <a:t>svg</a:t>
            </a:r>
          </a:p>
          <a:p>
            <a:r>
              <a:rPr lang="en-US" dirty="0"/>
              <a:t>Milestone: </a:t>
            </a:r>
            <a:r>
              <a:rPr lang="en-US" dirty="0" err="1"/>
              <a:t>NYCR-logo.</a:t>
            </a:r>
            <a:r>
              <a:rPr lang="en-US" b="1" dirty="0" err="1"/>
              <a:t>kicad_mod</a:t>
            </a:r>
            <a:endParaRPr lang="en-US" b="1" dirty="0"/>
          </a:p>
          <a:p>
            <a:r>
              <a:rPr lang="en-US" dirty="0"/>
              <a:t>End: NYCresistor-card-example2.</a:t>
            </a:r>
            <a:r>
              <a:rPr lang="en-US" b="1" dirty="0"/>
              <a:t>kicad_pcb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8184F6-8DAF-CB0B-9782-D9EB5D02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Asynchronous: Workflow 3:</a:t>
            </a:r>
            <a:br>
              <a:rPr lang="en-US" dirty="0"/>
            </a:br>
            <a:r>
              <a:rPr lang="en-US" dirty="0"/>
              <a:t>Converting, placing, iterating a footprint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1ECE7-6D42-B161-95C3-FCF82ABD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54</a:t>
            </a:fld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17556C6-63EA-5D4A-4EDE-0888033A2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5026" y="2694804"/>
            <a:ext cx="3988470" cy="2330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536F8E-0D94-011E-93D4-1540F90D2F70}"/>
              </a:ext>
            </a:extLst>
          </p:cNvPr>
          <p:cNvSpPr txBox="1"/>
          <p:nvPr/>
        </p:nvSpPr>
        <p:spPr>
          <a:xfrm>
            <a:off x="5800738" y="1265064"/>
            <a:ext cx="313246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Follow the instructions in </a:t>
            </a:r>
            <a:r>
              <a:rPr lang="en-US" sz="14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README.md</a:t>
            </a:r>
            <a:endParaRPr lang="en-US" sz="14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Do the example first, then try your 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B755D-9716-DD34-8751-A01448169124}"/>
              </a:ext>
            </a:extLst>
          </p:cNvPr>
          <p:cNvSpPr txBox="1"/>
          <p:nvPr/>
        </p:nvSpPr>
        <p:spPr>
          <a:xfrm>
            <a:off x="5460976" y="3189055"/>
            <a:ext cx="356847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  <a:hlinkClick r:id="rId5"/>
              </a:rPr>
              <a:t>taitphotonlab.com/apps/svg2kicad.html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41D37C-956B-9300-2E0B-0C0B07548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170" y="3792003"/>
            <a:ext cx="2373595" cy="238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110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A575FB-0AE0-335C-D7F0-A761D6D6CB4F}"/>
              </a:ext>
            </a:extLst>
          </p:cNvPr>
          <p:cNvSpPr/>
          <p:nvPr/>
        </p:nvSpPr>
        <p:spPr>
          <a:xfrm>
            <a:off x="4321629" y="5322527"/>
            <a:ext cx="1317171" cy="35981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17640-22D7-5304-2FFD-151A00D1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a PCB for fabrication</a:t>
            </a:r>
          </a:p>
        </p:txBody>
      </p:sp>
      <p:pic>
        <p:nvPicPr>
          <p:cNvPr id="3" name="Picture 2" descr="A blue and green circular object with a blue and green design&#10;&#10;Description automatically generated">
            <a:extLst>
              <a:ext uri="{FF2B5EF4-FFF2-40B4-BE49-F238E27FC236}">
                <a16:creationId xmlns:a16="http://schemas.microsoft.com/office/drawing/2014/main" id="{394CEF2C-3F3B-6940-67CD-0FDB0A11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43574" y="4120684"/>
            <a:ext cx="2429768" cy="2403686"/>
          </a:xfrm>
          <a:prstGeom prst="rect">
            <a:avLst/>
          </a:prstGeom>
        </p:spPr>
      </p:pic>
      <p:pic>
        <p:nvPicPr>
          <p:cNvPr id="4" name="Picture 3" descr="A round object with a dragon and panther on it&#10;&#10;Description automatically generated">
            <a:extLst>
              <a:ext uri="{FF2B5EF4-FFF2-40B4-BE49-F238E27FC236}">
                <a16:creationId xmlns:a16="http://schemas.microsoft.com/office/drawing/2014/main" id="{184DD743-1A99-E4B1-49FB-286D55BB6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659" y="4000500"/>
            <a:ext cx="2644055" cy="264405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BB30E3-E69E-5D5C-20A6-041A7D09A40F}"/>
              </a:ext>
            </a:extLst>
          </p:cNvPr>
          <p:cNvCxnSpPr/>
          <p:nvPr/>
        </p:nvCxnSpPr>
        <p:spPr>
          <a:xfrm>
            <a:off x="3706000" y="4931229"/>
            <a:ext cx="171508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4076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03520E-F932-BE1D-E42E-8E26B51FA2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FBE8F0-203D-14B9-50AE-A64EF3F2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</a:t>
            </a:r>
            <a:r>
              <a:rPr lang="en-US" dirty="0" err="1"/>
              <a:t>gerbers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9E728-4C25-5D45-A1B4-DFA7EAC1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5AD8C-7377-EAEA-429E-7CC60B47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30" y="1813419"/>
            <a:ext cx="3837140" cy="1622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D972B-D7A4-3BEC-5487-2F81B23D3164}"/>
              </a:ext>
            </a:extLst>
          </p:cNvPr>
          <p:cNvSpPr txBox="1"/>
          <p:nvPr/>
        </p:nvSpPr>
        <p:spPr>
          <a:xfrm>
            <a:off x="1018308" y="1132981"/>
            <a:ext cx="137217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Print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Do not use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47F85-C638-4414-F7AC-42D5FEC7B700}"/>
              </a:ext>
            </a:extLst>
          </p:cNvPr>
          <p:cNvSpPr txBox="1"/>
          <p:nvPr/>
        </p:nvSpPr>
        <p:spPr>
          <a:xfrm>
            <a:off x="2841641" y="1379202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Plot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964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244F081-FFCE-143D-F668-7137675A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98" y="2093879"/>
            <a:ext cx="7065818" cy="401301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9FBE8F0-203D-14B9-50AE-A64EF3F2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</a:t>
            </a:r>
            <a:r>
              <a:rPr lang="en-US" dirty="0" err="1"/>
              <a:t>gerbers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9E728-4C25-5D45-A1B4-DFA7EAC1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81D7E-88F9-B691-8C6D-583E311B4AA1}"/>
              </a:ext>
            </a:extLst>
          </p:cNvPr>
          <p:cNvSpPr txBox="1"/>
          <p:nvPr/>
        </p:nvSpPr>
        <p:spPr>
          <a:xfrm>
            <a:off x="3815344" y="1416771"/>
            <a:ext cx="2390976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Don’t leave this field blank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25D69-993D-F671-C6A7-A0A60154F363}"/>
              </a:ext>
            </a:extLst>
          </p:cNvPr>
          <p:cNvSpPr txBox="1"/>
          <p:nvPr/>
        </p:nvSpPr>
        <p:spPr>
          <a:xfrm>
            <a:off x="760313" y="1501863"/>
            <a:ext cx="1543810" cy="430887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Check that these are selected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66054-49D6-E7FE-6072-6A54B81B6E2F}"/>
              </a:ext>
            </a:extLst>
          </p:cNvPr>
          <p:cNvSpPr txBox="1"/>
          <p:nvPr/>
        </p:nvSpPr>
        <p:spPr>
          <a:xfrm>
            <a:off x="4576946" y="5165718"/>
            <a:ext cx="1785361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i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Deselect 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X2 format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59DCF0-B397-42F9-79DC-4B618793B7B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532218" y="1932750"/>
            <a:ext cx="0" cy="81045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AC2015-34CA-D0BC-9302-A56BA8BDB0DB}"/>
              </a:ext>
            </a:extLst>
          </p:cNvPr>
          <p:cNvCxnSpPr>
            <a:cxnSpLocks/>
          </p:cNvCxnSpPr>
          <p:nvPr/>
        </p:nvCxnSpPr>
        <p:spPr>
          <a:xfrm flipH="1">
            <a:off x="4204793" y="1662992"/>
            <a:ext cx="584022" cy="6973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497BEE-B9E4-6766-C74C-428FC03D7AC6}"/>
              </a:ext>
            </a:extLst>
          </p:cNvPr>
          <p:cNvCxnSpPr>
            <a:cxnSpLocks/>
          </p:cNvCxnSpPr>
          <p:nvPr/>
        </p:nvCxnSpPr>
        <p:spPr>
          <a:xfrm flipV="1">
            <a:off x="5430644" y="4348976"/>
            <a:ext cx="546410" cy="8167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61C65D-1A18-730A-C442-0FCA65F839C2}"/>
              </a:ext>
            </a:extLst>
          </p:cNvPr>
          <p:cNvSpPr txBox="1"/>
          <p:nvPr/>
        </p:nvSpPr>
        <p:spPr>
          <a:xfrm>
            <a:off x="2442684" y="5165718"/>
            <a:ext cx="1316066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i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Deselect 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these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52E852-9D8E-8D27-EE0B-ECE21DECB28C}"/>
              </a:ext>
            </a:extLst>
          </p:cNvPr>
          <p:cNvCxnSpPr>
            <a:cxnSpLocks/>
          </p:cNvCxnSpPr>
          <p:nvPr/>
        </p:nvCxnSpPr>
        <p:spPr>
          <a:xfrm flipV="1">
            <a:off x="3296382" y="4348976"/>
            <a:ext cx="546410" cy="8167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DD3C5F-6A4B-2C0D-63DE-97DA7FD6AF99}"/>
              </a:ext>
            </a:extLst>
          </p:cNvPr>
          <p:cNvSpPr txBox="1"/>
          <p:nvPr/>
        </p:nvSpPr>
        <p:spPr>
          <a:xfrm>
            <a:off x="3078959" y="6268022"/>
            <a:ext cx="2597004" cy="492443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First click Drill Files and press OK in the new popup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2895B-5F44-EEDE-1EBF-7F81B422F08B}"/>
              </a:ext>
            </a:extLst>
          </p:cNvPr>
          <p:cNvSpPr txBox="1"/>
          <p:nvPr/>
        </p:nvSpPr>
        <p:spPr>
          <a:xfrm>
            <a:off x="6206320" y="6391132"/>
            <a:ext cx="2597004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Finally, press PLOT here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077AAB-3548-ED66-8B7C-EFFE45A814E7}"/>
              </a:ext>
            </a:extLst>
          </p:cNvPr>
          <p:cNvCxnSpPr>
            <a:cxnSpLocks/>
          </p:cNvCxnSpPr>
          <p:nvPr/>
        </p:nvCxnSpPr>
        <p:spPr>
          <a:xfrm flipV="1">
            <a:off x="5475196" y="6045999"/>
            <a:ext cx="1330736" cy="3438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2E2EB0-E57F-613B-DAFF-D1C40531C1A8}"/>
              </a:ext>
            </a:extLst>
          </p:cNvPr>
          <p:cNvCxnSpPr>
            <a:cxnSpLocks/>
          </p:cNvCxnSpPr>
          <p:nvPr/>
        </p:nvCxnSpPr>
        <p:spPr>
          <a:xfrm flipV="1">
            <a:off x="7058722" y="6059421"/>
            <a:ext cx="742150" cy="3438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1932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84C388-C654-F8A5-55B7-0B192937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14" y="2274455"/>
            <a:ext cx="4912066" cy="23090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C0FE93D-7336-5F06-8ADD-C1F5AC24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Compressing to zip archive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0E079-31C0-0D31-4F75-127A9467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0A209-5472-7B63-D2E9-2DE7583ACC79}"/>
              </a:ext>
            </a:extLst>
          </p:cNvPr>
          <p:cNvSpPr txBox="1"/>
          <p:nvPr/>
        </p:nvSpPr>
        <p:spPr>
          <a:xfrm>
            <a:off x="2286000" y="1747679"/>
            <a:ext cx="91871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Right click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1737B7-3527-EBEE-8209-F40E28ED0B0D}"/>
              </a:ext>
            </a:extLst>
          </p:cNvPr>
          <p:cNvCxnSpPr>
            <a:cxnSpLocks/>
          </p:cNvCxnSpPr>
          <p:nvPr/>
        </p:nvCxnSpPr>
        <p:spPr>
          <a:xfrm flipH="1">
            <a:off x="2286000" y="1993900"/>
            <a:ext cx="334537" cy="2805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1FA7AE-F7F1-24AE-EDFB-AD2251AAD967}"/>
              </a:ext>
            </a:extLst>
          </p:cNvPr>
          <p:cNvSpPr txBox="1"/>
          <p:nvPr/>
        </p:nvSpPr>
        <p:spPr>
          <a:xfrm>
            <a:off x="2196790" y="5776332"/>
            <a:ext cx="414434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Windows/Linux: google how to zip a directory</a:t>
            </a:r>
          </a:p>
        </p:txBody>
      </p:sp>
    </p:spTree>
    <p:extLst>
      <p:ext uri="{BB962C8B-B14F-4D97-AF65-F5344CB8AC3E}">
        <p14:creationId xmlns:p14="http://schemas.microsoft.com/office/powerpoint/2010/main" val="3201188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A4F72A-6D6E-0371-9D01-DD7AE2F915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8998CB-EFCC-3BF2-59EE-128E450D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to </a:t>
            </a:r>
            <a:r>
              <a:rPr lang="en-US" dirty="0" err="1"/>
              <a:t>JLCPCB</a:t>
            </a:r>
            <a:br>
              <a:rPr lang="en-US" dirty="0"/>
            </a:br>
            <a:r>
              <a:rPr lang="en-US" dirty="0"/>
              <a:t>(similar for </a:t>
            </a:r>
            <a:r>
              <a:rPr lang="en-US" dirty="0" err="1"/>
              <a:t>OSHPARK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3961C-5D84-3FEA-7DCF-E39DF7FD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88D3A-907E-A5A8-2FE3-AD902351B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848" y="2137560"/>
            <a:ext cx="4438185" cy="2582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180578-EAF7-7AAB-EB7F-4BC3683FF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57" y="2279225"/>
            <a:ext cx="2318632" cy="2299550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A795E20-F289-33E9-30E7-78FA6D0A03E0}"/>
              </a:ext>
            </a:extLst>
          </p:cNvPr>
          <p:cNvCxnSpPr/>
          <p:nvPr/>
        </p:nvCxnSpPr>
        <p:spPr>
          <a:xfrm flipV="1">
            <a:off x="3078111" y="3858322"/>
            <a:ext cx="1772670" cy="423746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388BE5-1342-D40C-48A9-7023EC7172BE}"/>
              </a:ext>
            </a:extLst>
          </p:cNvPr>
          <p:cNvSpPr txBox="1"/>
          <p:nvPr/>
        </p:nvSpPr>
        <p:spPr>
          <a:xfrm>
            <a:off x="3395193" y="3640740"/>
            <a:ext cx="8803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drag,drop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197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5DDCDC-7537-2653-0EC4-70328850D4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E561E8-561E-9E4E-96A1-8F7C544A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upload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AD1A2-B37D-A008-4F60-DA6B29C9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4DF38-0910-4633-3D5F-5A26D0CC8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48" y="1903672"/>
            <a:ext cx="6423471" cy="360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615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2440C6-8208-B66B-33FC-C38968F7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8686800" cy="482858"/>
          </a:xfrm>
        </p:spPr>
        <p:txBody>
          <a:bodyPr/>
          <a:lstStyle/>
          <a:p>
            <a:r>
              <a:rPr lang="en-US" dirty="0"/>
              <a:t>Configuring the physical properties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29D03-64C0-E507-6CF1-9F2267E4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082457"/>
            <a:ext cx="8549640" cy="469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878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5E0F6-F656-1DBA-1DD4-8294D0188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3913902" cy="5765782"/>
          </a:xfrm>
        </p:spPr>
        <p:txBody>
          <a:bodyPr/>
          <a:lstStyle/>
          <a:p>
            <a:r>
              <a:rPr lang="en-US" dirty="0"/>
              <a:t>Quantity</a:t>
            </a:r>
          </a:p>
          <a:p>
            <a:r>
              <a:rPr lang="en-US" dirty="0"/>
              <a:t>Core Material</a:t>
            </a:r>
          </a:p>
          <a:p>
            <a:r>
              <a:rPr lang="en-US" dirty="0"/>
              <a:t>PCB Thickness</a:t>
            </a:r>
          </a:p>
          <a:p>
            <a:r>
              <a:rPr lang="en-US" dirty="0" err="1"/>
              <a:t>Soldermask</a:t>
            </a:r>
            <a:r>
              <a:rPr lang="en-US" dirty="0"/>
              <a:t> Color</a:t>
            </a:r>
          </a:p>
          <a:p>
            <a:r>
              <a:rPr lang="en-US" dirty="0"/>
              <a:t>Surface Finish</a:t>
            </a:r>
          </a:p>
          <a:p>
            <a:endParaRPr lang="en-US" dirty="0"/>
          </a:p>
          <a:p>
            <a:r>
              <a:rPr lang="en-US" dirty="0"/>
              <a:t>We will not need the rest of the properties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2440C6-8208-B66B-33FC-C38968F7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you can change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D2B13C-0050-B869-483E-69934D9027F3}"/>
              </a:ext>
            </a:extLst>
          </p:cNvPr>
          <p:cNvGrpSpPr/>
          <p:nvPr/>
        </p:nvGrpSpPr>
        <p:grpSpPr>
          <a:xfrm>
            <a:off x="3913903" y="711458"/>
            <a:ext cx="5118586" cy="5917942"/>
            <a:chOff x="3440291" y="1121326"/>
            <a:chExt cx="3830305" cy="44284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2B29D03-64C0-E507-6CF1-9F2267E4B3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8214"/>
            <a:stretch/>
          </p:blipFill>
          <p:spPr>
            <a:xfrm>
              <a:off x="3440292" y="1121326"/>
              <a:ext cx="3830304" cy="2928895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3A251C6-9283-7D26-A1A6-49EE24B9D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0291" y="4050221"/>
              <a:ext cx="3830304" cy="14995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17706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03DE3-FC46-7A73-F014-A541DDF9D7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Starting in .</a:t>
            </a:r>
            <a:r>
              <a:rPr lang="en-US" dirty="0" err="1"/>
              <a:t>kicad_pcb</a:t>
            </a:r>
            <a:endParaRPr lang="en-US" dirty="0"/>
          </a:p>
          <a:p>
            <a:r>
              <a:rPr lang="en-US" dirty="0"/>
              <a:t>Plot </a:t>
            </a:r>
            <a:r>
              <a:rPr lang="en-US" dirty="0" err="1"/>
              <a:t>gerbers</a:t>
            </a:r>
            <a:endParaRPr lang="en-US" dirty="0"/>
          </a:p>
          <a:p>
            <a:r>
              <a:rPr lang="en-US" dirty="0"/>
              <a:t>Zip folder of </a:t>
            </a:r>
            <a:r>
              <a:rPr lang="en-US" dirty="0" err="1"/>
              <a:t>gerbers</a:t>
            </a:r>
            <a:endParaRPr lang="en-US" dirty="0"/>
          </a:p>
          <a:p>
            <a:r>
              <a:rPr lang="en-US" dirty="0"/>
              <a:t>Drag-drop to </a:t>
            </a:r>
            <a:r>
              <a:rPr lang="en-US" dirty="0" err="1"/>
              <a:t>JLCPCB</a:t>
            </a:r>
            <a:r>
              <a:rPr lang="en-US" dirty="0"/>
              <a:t> or </a:t>
            </a:r>
            <a:r>
              <a:rPr lang="en-US" dirty="0" err="1"/>
              <a:t>OSHPARK</a:t>
            </a:r>
            <a:endParaRPr lang="en-US" dirty="0"/>
          </a:p>
          <a:p>
            <a:r>
              <a:rPr lang="en-US" dirty="0"/>
              <a:t>Inspect upload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A07D9A-22C8-328E-3FDA-FFA6AD6D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Recap: from PCB design to delivered boards</a:t>
            </a:r>
          </a:p>
        </p:txBody>
      </p:sp>
    </p:spTree>
    <p:extLst>
      <p:ext uri="{BB962C8B-B14F-4D97-AF65-F5344CB8AC3E}">
        <p14:creationId xmlns:p14="http://schemas.microsoft.com/office/powerpoint/2010/main" val="39103132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15D0A7-A6A3-EBDA-F1F8-B90C7B97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designs for the 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7AE2F-B4AB-B127-3407-A259B0B4CF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8513" y="6403975"/>
            <a:ext cx="725487" cy="365125"/>
          </a:xfrm>
        </p:spPr>
        <p:txBody>
          <a:bodyPr/>
          <a:lstStyle/>
          <a:p>
            <a:fld id="{A1CE482F-FCB4-614E-8004-33C88C9952E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706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2FE23-A906-717E-2E0A-2FB2D7C3C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4833257" cy="4289473"/>
          </a:xfrm>
        </p:spPr>
        <p:txBody>
          <a:bodyPr>
            <a:normAutofit fontScale="92500"/>
          </a:bodyPr>
          <a:lstStyle/>
          <a:p>
            <a:pPr marL="530352" indent="-457200">
              <a:buFont typeface="+mj-lt"/>
              <a:buAutoNum type="arabicPeriod"/>
            </a:pPr>
            <a:r>
              <a:rPr lang="en-US" dirty="0"/>
              <a:t>Fill out your info in the spreadsheet</a:t>
            </a:r>
          </a:p>
          <a:p>
            <a:pPr marL="530352" indent="-457200">
              <a:buFont typeface="+mj-lt"/>
              <a:buAutoNum type="arabicPeriod"/>
            </a:pPr>
            <a:r>
              <a:rPr lang="en-US" dirty="0"/>
              <a:t>Sign into my </a:t>
            </a:r>
            <a:r>
              <a:rPr lang="en-US" dirty="0" err="1"/>
              <a:t>JLCPCB</a:t>
            </a:r>
            <a:r>
              <a:rPr lang="en-US" dirty="0"/>
              <a:t> account</a:t>
            </a:r>
          </a:p>
          <a:p>
            <a:pPr lvl="1"/>
            <a:r>
              <a:rPr lang="en-US" dirty="0"/>
              <a:t>Username: </a:t>
            </a:r>
            <a:r>
              <a:rPr lang="en-US" dirty="0" err="1"/>
              <a:t>atait</a:t>
            </a:r>
            <a:endParaRPr lang="en-US" dirty="0"/>
          </a:p>
          <a:p>
            <a:pPr lvl="1"/>
            <a:r>
              <a:rPr lang="en-US" dirty="0"/>
              <a:t>Password: ****************</a:t>
            </a:r>
          </a:p>
          <a:p>
            <a:pPr marL="530352" indent="-457200">
              <a:buFont typeface="+mj-lt"/>
              <a:buAutoNum type="arabicPeriod"/>
            </a:pPr>
            <a:r>
              <a:rPr lang="en-US" dirty="0"/>
              <a:t>Upload your board and select the fabrication options</a:t>
            </a:r>
          </a:p>
          <a:p>
            <a:pPr marL="530352" indent="-457200">
              <a:buFont typeface="+mj-lt"/>
              <a:buAutoNum type="arabicPeriod"/>
            </a:pPr>
            <a:r>
              <a:rPr lang="en-US" dirty="0"/>
              <a:t>Add to cart</a:t>
            </a:r>
          </a:p>
          <a:p>
            <a:pPr marL="530352" indent="-457200">
              <a:buFont typeface="+mj-lt"/>
              <a:buAutoNum type="arabicPeriod"/>
            </a:pPr>
            <a:r>
              <a:rPr lang="en-US" dirty="0"/>
              <a:t>Calculate price and put it in the spreadsheet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249A71-D9B2-8F94-8130-5CBF19F0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for the order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34FFE-3FCF-9C7B-19BC-BC117CEFAAAD}"/>
              </a:ext>
            </a:extLst>
          </p:cNvPr>
          <p:cNvSpPr txBox="1"/>
          <p:nvPr/>
        </p:nvSpPr>
        <p:spPr>
          <a:xfrm>
            <a:off x="5290457" y="1406019"/>
            <a:ext cx="3555460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Calculating price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After putting your PCB(s) in the cart,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Select the checkbox next to your PCB.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Look at the subtotal.</a:t>
            </a:r>
          </a:p>
          <a:p>
            <a:pPr algn="l"/>
            <a:r>
              <a:rPr lang="en-US" sz="1600" i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Subtract $20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(since we share shipping)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Write the result in the spreadsheet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989D9-3F35-7B2B-1CCF-8BDEA442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13334"/>
            <a:ext cx="7772400" cy="1244901"/>
          </a:xfrm>
          <a:prstGeom prst="rect">
            <a:avLst/>
          </a:prstGeom>
          <a:ln>
            <a:solidFill>
              <a:schemeClr val="dk1">
                <a:shade val="95000"/>
                <a:satMod val="10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A2F64D-7F8B-F972-AB18-534F983C54D9}"/>
              </a:ext>
            </a:extLst>
          </p:cNvPr>
          <p:cNvSpPr txBox="1"/>
          <p:nvPr/>
        </p:nvSpPr>
        <p:spPr>
          <a:xfrm>
            <a:off x="3950001" y="6034139"/>
            <a:ext cx="88325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19019-EFAE-DFEA-DC11-46E11945FE27}"/>
              </a:ext>
            </a:extLst>
          </p:cNvPr>
          <p:cNvSpPr txBox="1"/>
          <p:nvPr/>
        </p:nvSpPr>
        <p:spPr>
          <a:xfrm>
            <a:off x="5290457" y="3429000"/>
            <a:ext cx="3555460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Spreadsheet link</a:t>
            </a:r>
          </a:p>
          <a:p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  <a:hlinkClick r:id="rId3"/>
              </a:rPr>
              <a:t>https://docs.google.com/spreadsheets/d/1kogPh8-kZjdPBVyFecbTC-Yk5dQ5IPqLUJ6YryDgMXk/edit?gid=0#gid=0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553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1C1CA2-0641-2B25-0B0F-F7DA6CD129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Let’s take some “candid” pictures</a:t>
            </a:r>
          </a:p>
          <a:p>
            <a:r>
              <a:rPr lang="en-US" dirty="0"/>
              <a:t>They help </a:t>
            </a:r>
            <a:r>
              <a:rPr lang="en-US" dirty="0" err="1"/>
              <a:t>NYCR</a:t>
            </a:r>
            <a:r>
              <a:rPr lang="en-US" dirty="0"/>
              <a:t>!</a:t>
            </a:r>
          </a:p>
          <a:p>
            <a:r>
              <a:rPr lang="en-US" dirty="0"/>
              <a:t>Over-the-shoulder CAD pics are great</a:t>
            </a:r>
          </a:p>
          <a:p>
            <a:pPr lvl="1"/>
            <a:r>
              <a:rPr lang="en-US" dirty="0"/>
              <a:t>Ask first</a:t>
            </a:r>
          </a:p>
          <a:p>
            <a:r>
              <a:rPr lang="en-US" dirty="0"/>
              <a:t>Avoid getting faces or identifying markings without asking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20A9ED-8C50-7B71-AC05-A364D2AE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473F9-2EE0-2CD1-71E4-22C0B05F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3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0" rIns="0" rtlCol="0" anchor="ctr"/>
      <a:lstStyle>
        <a:defPPr algn="ctr">
          <a:defRPr sz="2000" dirty="0" smtClean="0">
            <a:latin typeface="Proxima Nova" panose="02000506030000020004" pitchFamily="2" charset="0"/>
            <a:ea typeface="Helvetica Light" charset="0"/>
            <a:cs typeface="Helvetica Light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19050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smtClean="0">
            <a:latin typeface="Proxima Nova" panose="02000506030000020004" pitchFamily="2" charset="0"/>
            <a:ea typeface="Avenir Next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160468</TotalTime>
  <Words>2117</Words>
  <Application>Microsoft Macintosh PowerPoint</Application>
  <PresentationFormat>On-screen Show (4:3)</PresentationFormat>
  <Paragraphs>432</Paragraphs>
  <Slides>66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Arial</vt:lpstr>
      <vt:lpstr>Avenir Next</vt:lpstr>
      <vt:lpstr>Avenir Next Ultra Light</vt:lpstr>
      <vt:lpstr>Calibri</vt:lpstr>
      <vt:lpstr>Helvetica</vt:lpstr>
      <vt:lpstr>Helvetica Light</vt:lpstr>
      <vt:lpstr>Helvetica Neue</vt:lpstr>
      <vt:lpstr>Monaco</vt:lpstr>
      <vt:lpstr>Proxima Nova</vt:lpstr>
      <vt:lpstr>Times New Roman</vt:lpstr>
      <vt:lpstr>Office Theme</vt:lpstr>
      <vt:lpstr>PowerPoint Presentation</vt:lpstr>
      <vt:lpstr>Objectives</vt:lpstr>
      <vt:lpstr>My background</vt:lpstr>
      <vt:lpstr>Computer Graphics: Vector vs. Raster</vt:lpstr>
      <vt:lpstr>Computer Graphics: Vector vs. Raster</vt:lpstr>
      <vt:lpstr>Graphic format for PCB hardware</vt:lpstr>
      <vt:lpstr>Software</vt:lpstr>
      <vt:lpstr>KiCanvas visualizer for PCBs on github</vt:lpstr>
      <vt:lpstr>Asynchronous 0: get the software</vt:lpstr>
      <vt:lpstr>What a PCB looks like</vt:lpstr>
      <vt:lpstr>Cross section of PCB layers</vt:lpstr>
      <vt:lpstr>Solder mask colors</vt:lpstr>
      <vt:lpstr>Copper finish colors</vt:lpstr>
      <vt:lpstr>Silkscreen is white</vt:lpstr>
      <vt:lpstr>All layers together</vt:lpstr>
      <vt:lpstr>Layer cross section visualizer</vt:lpstr>
      <vt:lpstr>Swatches for reference</vt:lpstr>
      <vt:lpstr>Cutouts</vt:lpstr>
      <vt:lpstr>Translucency effects</vt:lpstr>
      <vt:lpstr>Translucency ideas</vt:lpstr>
      <vt:lpstr>Asynchronous: Workflow 1:  single-layer import into CAD</vt:lpstr>
      <vt:lpstr>Vector graphics concepts</vt:lpstr>
      <vt:lpstr>Paths and nodes</vt:lpstr>
      <vt:lpstr>Grouping</vt:lpstr>
      <vt:lpstr>Layers in SVG</vt:lpstr>
      <vt:lpstr>SVG Layers for PCB design</vt:lpstr>
      <vt:lpstr>Editing vector graphics</vt:lpstr>
      <vt:lpstr>Scale operations</vt:lpstr>
      <vt:lpstr>Boolean operations</vt:lpstr>
      <vt:lpstr>Boolean operations</vt:lpstr>
      <vt:lpstr>Stroke to path</vt:lpstr>
      <vt:lpstr>Decompose/combine paths</vt:lpstr>
      <vt:lpstr>Inset/outset operations</vt:lpstr>
      <vt:lpstr>Trace bitmap</vt:lpstr>
      <vt:lpstr>Tip: QR codes</vt:lpstr>
      <vt:lpstr>Recap: vector graphics editing</vt:lpstr>
      <vt:lpstr>Asynchronous: Workflow 2: SVG editing</vt:lpstr>
      <vt:lpstr>Computer aided layout design</vt:lpstr>
      <vt:lpstr>Old fashioned style</vt:lpstr>
      <vt:lpstr>Rubylith period</vt:lpstr>
      <vt:lpstr>Computer aided design (CAD)</vt:lpstr>
      <vt:lpstr>Modern computer aided design (CAD)</vt:lpstr>
      <vt:lpstr>The pcbnew application</vt:lpstr>
      <vt:lpstr>What does CAD enable</vt:lpstr>
      <vt:lpstr>Converting multi-layer graphics</vt:lpstr>
      <vt:lpstr>SVG Layers for PCB design</vt:lpstr>
      <vt:lpstr>Conversion step (old way)</vt:lpstr>
      <vt:lpstr>Conversion step (recent way)</vt:lpstr>
      <vt:lpstr>Conversion step (new way)</vt:lpstr>
      <vt:lpstr>Footprint libraries</vt:lpstr>
      <vt:lpstr>Placing the footprint</vt:lpstr>
      <vt:lpstr>Drawing the outline</vt:lpstr>
      <vt:lpstr>Iteration workflow</vt:lpstr>
      <vt:lpstr>Asynchronous: Workflow 3: Converting, placing, iterating a footprint</vt:lpstr>
      <vt:lpstr>Uploading a PCB for fabrication</vt:lpstr>
      <vt:lpstr>Plotting gerbers</vt:lpstr>
      <vt:lpstr>Plotting gerbers</vt:lpstr>
      <vt:lpstr>Compressing to zip archive</vt:lpstr>
      <vt:lpstr>Uploading to JLCPCB (similar for OSHPARK)</vt:lpstr>
      <vt:lpstr>Inspect upload</vt:lpstr>
      <vt:lpstr>Configuring the physical properties</vt:lpstr>
      <vt:lpstr>Properties you can change</vt:lpstr>
      <vt:lpstr>Recap: from PCB design to delivered boards</vt:lpstr>
      <vt:lpstr>Uploading designs for the order</vt:lpstr>
      <vt:lpstr>Instructions for the order</vt:lpstr>
      <vt:lpstr>Documentation time</vt:lpstr>
    </vt:vector>
  </TitlesOfParts>
  <Manager/>
  <Company>Princeton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Mitchell Nahmias</dc:creator>
  <cp:keywords/>
  <dc:description/>
  <cp:lastModifiedBy>Alexander Tait</cp:lastModifiedBy>
  <cp:revision>3534</cp:revision>
  <cp:lastPrinted>2022-11-25T15:12:09Z</cp:lastPrinted>
  <dcterms:created xsi:type="dcterms:W3CDTF">2014-06-11T04:42:51Z</dcterms:created>
  <dcterms:modified xsi:type="dcterms:W3CDTF">2026-10-24T18:15:15Z</dcterms:modified>
  <cp:category/>
</cp:coreProperties>
</file>